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8" r:id="rId3"/>
    <p:sldId id="269" r:id="rId4"/>
    <p:sldId id="259" r:id="rId5"/>
    <p:sldId id="258" r:id="rId6"/>
    <p:sldId id="284" r:id="rId7"/>
    <p:sldId id="272" r:id="rId8"/>
    <p:sldId id="273" r:id="rId9"/>
    <p:sldId id="274" r:id="rId10"/>
    <p:sldId id="275" r:id="rId11"/>
    <p:sldId id="285" r:id="rId12"/>
    <p:sldId id="286" r:id="rId13"/>
    <p:sldId id="287" r:id="rId14"/>
    <p:sldId id="288" r:id="rId15"/>
    <p:sldId id="277" r:id="rId16"/>
    <p:sldId id="282" r:id="rId17"/>
    <p:sldId id="279" r:id="rId18"/>
    <p:sldId id="280" r:id="rId19"/>
    <p:sldId id="281" r:id="rId20"/>
    <p:sldId id="28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5" d="100"/>
          <a:sy n="85" d="100"/>
        </p:scale>
        <p:origin x="36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C88D8A-383F-488A-B288-DA6D56B1FB67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4E69346-4331-479B-82D4-508C56550346}">
      <dgm:prSet/>
      <dgm:spPr/>
      <dgm:t>
        <a:bodyPr/>
        <a:lstStyle/>
        <a:p>
          <a:r>
            <a:rPr lang="en-US"/>
            <a:t>To maintain accurate student, faculty, course, and department records.</a:t>
          </a:r>
        </a:p>
      </dgm:t>
    </dgm:pt>
    <dgm:pt modelId="{6CC129A7-7E34-4B53-9D3E-6DC22A6A91CE}" type="parTrans" cxnId="{B2206398-3A26-4815-9918-41D85D27ECDD}">
      <dgm:prSet/>
      <dgm:spPr/>
      <dgm:t>
        <a:bodyPr/>
        <a:lstStyle/>
        <a:p>
          <a:endParaRPr lang="en-US"/>
        </a:p>
      </dgm:t>
    </dgm:pt>
    <dgm:pt modelId="{98636863-DF24-4C67-9567-2D338F6077CE}" type="sibTrans" cxnId="{B2206398-3A26-4815-9918-41D85D27ECDD}">
      <dgm:prSet/>
      <dgm:spPr/>
      <dgm:t>
        <a:bodyPr/>
        <a:lstStyle/>
        <a:p>
          <a:endParaRPr lang="en-US"/>
        </a:p>
      </dgm:t>
    </dgm:pt>
    <dgm:pt modelId="{4C76ED25-9BF3-473E-931B-77355DE58B18}">
      <dgm:prSet/>
      <dgm:spPr/>
      <dgm:t>
        <a:bodyPr/>
        <a:lstStyle/>
        <a:p>
          <a:r>
            <a:rPr lang="en-US"/>
            <a:t>To record and monitor student attendance for each course.</a:t>
          </a:r>
        </a:p>
      </dgm:t>
    </dgm:pt>
    <dgm:pt modelId="{B1AA380F-FD9B-47E5-9682-35EEDEF7F8DB}" type="parTrans" cxnId="{58CC745A-FAE3-4F30-A127-74342F745EF5}">
      <dgm:prSet/>
      <dgm:spPr/>
      <dgm:t>
        <a:bodyPr/>
        <a:lstStyle/>
        <a:p>
          <a:endParaRPr lang="en-US"/>
        </a:p>
      </dgm:t>
    </dgm:pt>
    <dgm:pt modelId="{905EDA3B-8BC5-47E1-8F69-D5C1FCFF539C}" type="sibTrans" cxnId="{58CC745A-FAE3-4F30-A127-74342F745EF5}">
      <dgm:prSet/>
      <dgm:spPr/>
      <dgm:t>
        <a:bodyPr/>
        <a:lstStyle/>
        <a:p>
          <a:endParaRPr lang="en-US"/>
        </a:p>
      </dgm:t>
    </dgm:pt>
    <dgm:pt modelId="{E66FEDD8-706F-46B5-8A23-BC2DB938CA7A}">
      <dgm:prSet/>
      <dgm:spPr/>
      <dgm:t>
        <a:bodyPr/>
        <a:lstStyle/>
        <a:p>
          <a:r>
            <a:rPr lang="en-US"/>
            <a:t>To manage course enrollments and examination details.</a:t>
          </a:r>
        </a:p>
      </dgm:t>
    </dgm:pt>
    <dgm:pt modelId="{0D5AD8F6-BF2A-47CF-AC6D-FF57CF4B8625}" type="parTrans" cxnId="{CA0E4B39-E1FF-4B4B-A678-E9E8807393CB}">
      <dgm:prSet/>
      <dgm:spPr/>
      <dgm:t>
        <a:bodyPr/>
        <a:lstStyle/>
        <a:p>
          <a:endParaRPr lang="en-US"/>
        </a:p>
      </dgm:t>
    </dgm:pt>
    <dgm:pt modelId="{F626DF9F-2231-473A-A345-AB35744C51E4}" type="sibTrans" cxnId="{CA0E4B39-E1FF-4B4B-A678-E9E8807393CB}">
      <dgm:prSet/>
      <dgm:spPr/>
      <dgm:t>
        <a:bodyPr/>
        <a:lstStyle/>
        <a:p>
          <a:endParaRPr lang="en-US"/>
        </a:p>
      </dgm:t>
    </dgm:pt>
    <dgm:pt modelId="{D6C8892E-2B59-4AC0-A0CC-CFA43296D61E}">
      <dgm:prSet/>
      <dgm:spPr/>
      <dgm:t>
        <a:bodyPr/>
        <a:lstStyle/>
        <a:p>
          <a:r>
            <a:rPr lang="en-US"/>
            <a:t>To track student performance through marks and grades.</a:t>
          </a:r>
        </a:p>
      </dgm:t>
    </dgm:pt>
    <dgm:pt modelId="{9757519C-1DF3-45DB-B203-ADC321DA010A}" type="parTrans" cxnId="{218E13A8-C2E7-4BDE-B5A0-A2D5BD437B0B}">
      <dgm:prSet/>
      <dgm:spPr/>
      <dgm:t>
        <a:bodyPr/>
        <a:lstStyle/>
        <a:p>
          <a:endParaRPr lang="en-US"/>
        </a:p>
      </dgm:t>
    </dgm:pt>
    <dgm:pt modelId="{9852FC9D-C616-4CA9-B142-911FA5D30F49}" type="sibTrans" cxnId="{218E13A8-C2E7-4BDE-B5A0-A2D5BD437B0B}">
      <dgm:prSet/>
      <dgm:spPr/>
      <dgm:t>
        <a:bodyPr/>
        <a:lstStyle/>
        <a:p>
          <a:endParaRPr lang="en-US"/>
        </a:p>
      </dgm:t>
    </dgm:pt>
    <dgm:pt modelId="{D5A753D7-4F06-4677-AE7E-B6096B732782}">
      <dgm:prSet/>
      <dgm:spPr/>
      <dgm:t>
        <a:bodyPr/>
        <a:lstStyle/>
        <a:p>
          <a:r>
            <a:rPr lang="en-US"/>
            <a:t>To identify students with low attendance or poor academic performance.</a:t>
          </a:r>
        </a:p>
      </dgm:t>
    </dgm:pt>
    <dgm:pt modelId="{C2DA9C21-0093-4974-A3F7-F23471590870}" type="parTrans" cxnId="{8393AA16-3394-4C41-AD97-C4F9D4DECCE6}">
      <dgm:prSet/>
      <dgm:spPr/>
      <dgm:t>
        <a:bodyPr/>
        <a:lstStyle/>
        <a:p>
          <a:endParaRPr lang="en-US"/>
        </a:p>
      </dgm:t>
    </dgm:pt>
    <dgm:pt modelId="{420B4B46-EA1A-4B49-A9DC-8142D71E1554}" type="sibTrans" cxnId="{8393AA16-3394-4C41-AD97-C4F9D4DECCE6}">
      <dgm:prSet/>
      <dgm:spPr/>
      <dgm:t>
        <a:bodyPr/>
        <a:lstStyle/>
        <a:p>
          <a:endParaRPr lang="en-US"/>
        </a:p>
      </dgm:t>
    </dgm:pt>
    <dgm:pt modelId="{052321F1-F220-45D4-973F-CC50F80D1666}">
      <dgm:prSet/>
      <dgm:spPr/>
      <dgm:t>
        <a:bodyPr/>
        <a:lstStyle/>
        <a:p>
          <a:r>
            <a:rPr lang="en-US"/>
            <a:t>To generate reports that support academic monitoring and decision-     making.</a:t>
          </a:r>
        </a:p>
      </dgm:t>
    </dgm:pt>
    <dgm:pt modelId="{670A27D2-A376-4480-A674-DDFC94721861}" type="parTrans" cxnId="{A25F172E-8EDB-4D96-831F-D7B7440B14C4}">
      <dgm:prSet/>
      <dgm:spPr/>
      <dgm:t>
        <a:bodyPr/>
        <a:lstStyle/>
        <a:p>
          <a:endParaRPr lang="en-US"/>
        </a:p>
      </dgm:t>
    </dgm:pt>
    <dgm:pt modelId="{55F81595-204A-45A7-8BF6-403225DC965D}" type="sibTrans" cxnId="{A25F172E-8EDB-4D96-831F-D7B7440B14C4}">
      <dgm:prSet/>
      <dgm:spPr/>
      <dgm:t>
        <a:bodyPr/>
        <a:lstStyle/>
        <a:p>
          <a:endParaRPr lang="en-US"/>
        </a:p>
      </dgm:t>
    </dgm:pt>
    <dgm:pt modelId="{C83AE30A-D6EB-4278-A4E4-98D0354F89BB}">
      <dgm:prSet/>
      <dgm:spPr/>
      <dgm:t>
        <a:bodyPr/>
        <a:lstStyle/>
        <a:p>
          <a:r>
            <a:rPr lang="en-US"/>
            <a:t>To reduce manual record-keeping and improve data accuracy.</a:t>
          </a:r>
        </a:p>
      </dgm:t>
    </dgm:pt>
    <dgm:pt modelId="{6ADCE523-AB8D-4F34-99EF-0C577D6D07C9}" type="parTrans" cxnId="{05C433E2-877A-41BF-810F-F379CC759114}">
      <dgm:prSet/>
      <dgm:spPr/>
      <dgm:t>
        <a:bodyPr/>
        <a:lstStyle/>
        <a:p>
          <a:endParaRPr lang="en-US"/>
        </a:p>
      </dgm:t>
    </dgm:pt>
    <dgm:pt modelId="{B4EC5724-461C-4EAF-8A7E-71D1B22933CA}" type="sibTrans" cxnId="{05C433E2-877A-41BF-810F-F379CC759114}">
      <dgm:prSet/>
      <dgm:spPr/>
      <dgm:t>
        <a:bodyPr/>
        <a:lstStyle/>
        <a:p>
          <a:endParaRPr lang="en-US"/>
        </a:p>
      </dgm:t>
    </dgm:pt>
    <dgm:pt modelId="{826C2780-0395-4343-B647-9ECD08139D44}">
      <dgm:prSet/>
      <dgm:spPr/>
      <dgm:t>
        <a:bodyPr/>
        <a:lstStyle/>
        <a:p>
          <a:r>
            <a:rPr lang="en-US"/>
            <a:t>To demonstrate the use of SQL concepts such as tables, relationships, primary keys, foreign keys, joins, and queries.</a:t>
          </a:r>
        </a:p>
      </dgm:t>
    </dgm:pt>
    <dgm:pt modelId="{BD67B408-4EF5-4891-AF15-383C89DC2F39}" type="parTrans" cxnId="{2E2364E8-F0E5-4465-847A-F6EAADBDFEA4}">
      <dgm:prSet/>
      <dgm:spPr/>
      <dgm:t>
        <a:bodyPr/>
        <a:lstStyle/>
        <a:p>
          <a:endParaRPr lang="en-US"/>
        </a:p>
      </dgm:t>
    </dgm:pt>
    <dgm:pt modelId="{E3A02EF4-72AB-4597-A04C-91CFA2A71E7E}" type="sibTrans" cxnId="{2E2364E8-F0E5-4465-847A-F6EAADBDFEA4}">
      <dgm:prSet/>
      <dgm:spPr/>
      <dgm:t>
        <a:bodyPr/>
        <a:lstStyle/>
        <a:p>
          <a:endParaRPr lang="en-US"/>
        </a:p>
      </dgm:t>
    </dgm:pt>
    <dgm:pt modelId="{04E51E9C-48C7-48DB-888B-EED444F178EF}" type="pres">
      <dgm:prSet presAssocID="{1EC88D8A-383F-488A-B288-DA6D56B1FB67}" presName="linear" presStyleCnt="0">
        <dgm:presLayoutVars>
          <dgm:animLvl val="lvl"/>
          <dgm:resizeHandles val="exact"/>
        </dgm:presLayoutVars>
      </dgm:prSet>
      <dgm:spPr/>
    </dgm:pt>
    <dgm:pt modelId="{1F9A9763-7558-4F3A-A390-6B681C4E5D56}" type="pres">
      <dgm:prSet presAssocID="{34E69346-4331-479B-82D4-508C56550346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61C24A61-C344-4668-AAC9-4C14E6838DCB}" type="pres">
      <dgm:prSet presAssocID="{98636863-DF24-4C67-9567-2D338F6077CE}" presName="spacer" presStyleCnt="0"/>
      <dgm:spPr/>
    </dgm:pt>
    <dgm:pt modelId="{B11E72FD-01AB-4657-81D3-109417B8B0D6}" type="pres">
      <dgm:prSet presAssocID="{4C76ED25-9BF3-473E-931B-77355DE58B18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714A7FD6-DAEB-4F0F-88F0-FD54528C557E}" type="pres">
      <dgm:prSet presAssocID="{905EDA3B-8BC5-47E1-8F69-D5C1FCFF539C}" presName="spacer" presStyleCnt="0"/>
      <dgm:spPr/>
    </dgm:pt>
    <dgm:pt modelId="{6D7BB99C-D6D7-40C9-B1F4-795AD334E37B}" type="pres">
      <dgm:prSet presAssocID="{E66FEDD8-706F-46B5-8A23-BC2DB938CA7A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9B31822B-C257-47EF-A9AA-231FD0647376}" type="pres">
      <dgm:prSet presAssocID="{F626DF9F-2231-473A-A345-AB35744C51E4}" presName="spacer" presStyleCnt="0"/>
      <dgm:spPr/>
    </dgm:pt>
    <dgm:pt modelId="{969F743D-C113-454D-B3BD-5400802FE2F5}" type="pres">
      <dgm:prSet presAssocID="{D6C8892E-2B59-4AC0-A0CC-CFA43296D61E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42F56A25-83F8-4CB4-9844-12F461302669}" type="pres">
      <dgm:prSet presAssocID="{9852FC9D-C616-4CA9-B142-911FA5D30F49}" presName="spacer" presStyleCnt="0"/>
      <dgm:spPr/>
    </dgm:pt>
    <dgm:pt modelId="{93B461D9-F246-4A82-AE73-7B4E37351EDE}" type="pres">
      <dgm:prSet presAssocID="{D5A753D7-4F06-4677-AE7E-B6096B732782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C7024007-E2AF-4880-AD05-D833990D8BEA}" type="pres">
      <dgm:prSet presAssocID="{420B4B46-EA1A-4B49-A9DC-8142D71E1554}" presName="spacer" presStyleCnt="0"/>
      <dgm:spPr/>
    </dgm:pt>
    <dgm:pt modelId="{162E29BB-CF5B-4282-9507-A98D543FA4A1}" type="pres">
      <dgm:prSet presAssocID="{052321F1-F220-45D4-973F-CC50F80D1666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EDF9A26E-0E0A-4C66-8C81-74B2A208EED4}" type="pres">
      <dgm:prSet presAssocID="{55F81595-204A-45A7-8BF6-403225DC965D}" presName="spacer" presStyleCnt="0"/>
      <dgm:spPr/>
    </dgm:pt>
    <dgm:pt modelId="{96719990-B96D-4C27-B4B3-9CC5B74D7FE1}" type="pres">
      <dgm:prSet presAssocID="{C83AE30A-D6EB-4278-A4E4-98D0354F89BB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9B63A6AA-EE79-45DA-A47B-5F7DCB48371C}" type="pres">
      <dgm:prSet presAssocID="{B4EC5724-461C-4EAF-8A7E-71D1B22933CA}" presName="spacer" presStyleCnt="0"/>
      <dgm:spPr/>
    </dgm:pt>
    <dgm:pt modelId="{5B9F1737-5EA0-43DD-AD05-E5A55D78DDDA}" type="pres">
      <dgm:prSet presAssocID="{826C2780-0395-4343-B647-9ECD08139D44}" presName="parentText" presStyleLbl="node1" presStyleIdx="7" presStyleCnt="8">
        <dgm:presLayoutVars>
          <dgm:chMax val="0"/>
          <dgm:bulletEnabled val="1"/>
        </dgm:presLayoutVars>
      </dgm:prSet>
      <dgm:spPr/>
    </dgm:pt>
  </dgm:ptLst>
  <dgm:cxnLst>
    <dgm:cxn modelId="{8393AA16-3394-4C41-AD97-C4F9D4DECCE6}" srcId="{1EC88D8A-383F-488A-B288-DA6D56B1FB67}" destId="{D5A753D7-4F06-4677-AE7E-B6096B732782}" srcOrd="4" destOrd="0" parTransId="{C2DA9C21-0093-4974-A3F7-F23471590870}" sibTransId="{420B4B46-EA1A-4B49-A9DC-8142D71E1554}"/>
    <dgm:cxn modelId="{585F7818-AC2A-4347-9D5E-88D20B67EC01}" type="presOf" srcId="{4C76ED25-9BF3-473E-931B-77355DE58B18}" destId="{B11E72FD-01AB-4657-81D3-109417B8B0D6}" srcOrd="0" destOrd="0" presId="urn:microsoft.com/office/officeart/2005/8/layout/vList2"/>
    <dgm:cxn modelId="{86D22920-E5A8-43BE-9584-5E71A8955BCC}" type="presOf" srcId="{052321F1-F220-45D4-973F-CC50F80D1666}" destId="{162E29BB-CF5B-4282-9507-A98D543FA4A1}" srcOrd="0" destOrd="0" presId="urn:microsoft.com/office/officeart/2005/8/layout/vList2"/>
    <dgm:cxn modelId="{A25F172E-8EDB-4D96-831F-D7B7440B14C4}" srcId="{1EC88D8A-383F-488A-B288-DA6D56B1FB67}" destId="{052321F1-F220-45D4-973F-CC50F80D1666}" srcOrd="5" destOrd="0" parTransId="{670A27D2-A376-4480-A674-DDFC94721861}" sibTransId="{55F81595-204A-45A7-8BF6-403225DC965D}"/>
    <dgm:cxn modelId="{CA0E4B39-E1FF-4B4B-A678-E9E8807393CB}" srcId="{1EC88D8A-383F-488A-B288-DA6D56B1FB67}" destId="{E66FEDD8-706F-46B5-8A23-BC2DB938CA7A}" srcOrd="2" destOrd="0" parTransId="{0D5AD8F6-BF2A-47CF-AC6D-FF57CF4B8625}" sibTransId="{F626DF9F-2231-473A-A345-AB35744C51E4}"/>
    <dgm:cxn modelId="{6E0A644C-54A5-4801-93CD-67631F4E7BD4}" type="presOf" srcId="{34E69346-4331-479B-82D4-508C56550346}" destId="{1F9A9763-7558-4F3A-A390-6B681C4E5D56}" srcOrd="0" destOrd="0" presId="urn:microsoft.com/office/officeart/2005/8/layout/vList2"/>
    <dgm:cxn modelId="{04F80079-B521-499E-8ACE-55155965840C}" type="presOf" srcId="{D5A753D7-4F06-4677-AE7E-B6096B732782}" destId="{93B461D9-F246-4A82-AE73-7B4E37351EDE}" srcOrd="0" destOrd="0" presId="urn:microsoft.com/office/officeart/2005/8/layout/vList2"/>
    <dgm:cxn modelId="{58CC745A-FAE3-4F30-A127-74342F745EF5}" srcId="{1EC88D8A-383F-488A-B288-DA6D56B1FB67}" destId="{4C76ED25-9BF3-473E-931B-77355DE58B18}" srcOrd="1" destOrd="0" parTransId="{B1AA380F-FD9B-47E5-9682-35EEDEF7F8DB}" sibTransId="{905EDA3B-8BC5-47E1-8F69-D5C1FCFF539C}"/>
    <dgm:cxn modelId="{5054E25A-4717-4EFE-ACAB-D7D5B30399FD}" type="presOf" srcId="{C83AE30A-D6EB-4278-A4E4-98D0354F89BB}" destId="{96719990-B96D-4C27-B4B3-9CC5B74D7FE1}" srcOrd="0" destOrd="0" presId="urn:microsoft.com/office/officeart/2005/8/layout/vList2"/>
    <dgm:cxn modelId="{D0AD2E7D-06E3-4AD0-B386-A0BF1E9FA09A}" type="presOf" srcId="{826C2780-0395-4343-B647-9ECD08139D44}" destId="{5B9F1737-5EA0-43DD-AD05-E5A55D78DDDA}" srcOrd="0" destOrd="0" presId="urn:microsoft.com/office/officeart/2005/8/layout/vList2"/>
    <dgm:cxn modelId="{1A95A784-7AAC-48A7-A930-539570E16C1F}" type="presOf" srcId="{D6C8892E-2B59-4AC0-A0CC-CFA43296D61E}" destId="{969F743D-C113-454D-B3BD-5400802FE2F5}" srcOrd="0" destOrd="0" presId="urn:microsoft.com/office/officeart/2005/8/layout/vList2"/>
    <dgm:cxn modelId="{9D17A98D-F0D1-4CC7-8B97-9D2FB7127B8E}" type="presOf" srcId="{1EC88D8A-383F-488A-B288-DA6D56B1FB67}" destId="{04E51E9C-48C7-48DB-888B-EED444F178EF}" srcOrd="0" destOrd="0" presId="urn:microsoft.com/office/officeart/2005/8/layout/vList2"/>
    <dgm:cxn modelId="{B2206398-3A26-4815-9918-41D85D27ECDD}" srcId="{1EC88D8A-383F-488A-B288-DA6D56B1FB67}" destId="{34E69346-4331-479B-82D4-508C56550346}" srcOrd="0" destOrd="0" parTransId="{6CC129A7-7E34-4B53-9D3E-6DC22A6A91CE}" sibTransId="{98636863-DF24-4C67-9567-2D338F6077CE}"/>
    <dgm:cxn modelId="{218E13A8-C2E7-4BDE-B5A0-A2D5BD437B0B}" srcId="{1EC88D8A-383F-488A-B288-DA6D56B1FB67}" destId="{D6C8892E-2B59-4AC0-A0CC-CFA43296D61E}" srcOrd="3" destOrd="0" parTransId="{9757519C-1DF3-45DB-B203-ADC321DA010A}" sibTransId="{9852FC9D-C616-4CA9-B142-911FA5D30F49}"/>
    <dgm:cxn modelId="{C1A51CB5-CAF6-4AAE-A02A-FDDD5DD14788}" type="presOf" srcId="{E66FEDD8-706F-46B5-8A23-BC2DB938CA7A}" destId="{6D7BB99C-D6D7-40C9-B1F4-795AD334E37B}" srcOrd="0" destOrd="0" presId="urn:microsoft.com/office/officeart/2005/8/layout/vList2"/>
    <dgm:cxn modelId="{05C433E2-877A-41BF-810F-F379CC759114}" srcId="{1EC88D8A-383F-488A-B288-DA6D56B1FB67}" destId="{C83AE30A-D6EB-4278-A4E4-98D0354F89BB}" srcOrd="6" destOrd="0" parTransId="{6ADCE523-AB8D-4F34-99EF-0C577D6D07C9}" sibTransId="{B4EC5724-461C-4EAF-8A7E-71D1B22933CA}"/>
    <dgm:cxn modelId="{2E2364E8-F0E5-4465-847A-F6EAADBDFEA4}" srcId="{1EC88D8A-383F-488A-B288-DA6D56B1FB67}" destId="{826C2780-0395-4343-B647-9ECD08139D44}" srcOrd="7" destOrd="0" parTransId="{BD67B408-4EF5-4891-AF15-383C89DC2F39}" sibTransId="{E3A02EF4-72AB-4597-A04C-91CFA2A71E7E}"/>
    <dgm:cxn modelId="{2775030A-D9DB-4B57-98B8-58009A3CC961}" type="presParOf" srcId="{04E51E9C-48C7-48DB-888B-EED444F178EF}" destId="{1F9A9763-7558-4F3A-A390-6B681C4E5D56}" srcOrd="0" destOrd="0" presId="urn:microsoft.com/office/officeart/2005/8/layout/vList2"/>
    <dgm:cxn modelId="{C9439BD9-505B-49E2-B700-4A9A469AAF35}" type="presParOf" srcId="{04E51E9C-48C7-48DB-888B-EED444F178EF}" destId="{61C24A61-C344-4668-AAC9-4C14E6838DCB}" srcOrd="1" destOrd="0" presId="urn:microsoft.com/office/officeart/2005/8/layout/vList2"/>
    <dgm:cxn modelId="{D148B394-043C-4513-885E-9075DBE10393}" type="presParOf" srcId="{04E51E9C-48C7-48DB-888B-EED444F178EF}" destId="{B11E72FD-01AB-4657-81D3-109417B8B0D6}" srcOrd="2" destOrd="0" presId="urn:microsoft.com/office/officeart/2005/8/layout/vList2"/>
    <dgm:cxn modelId="{B7094EF0-4A7B-4E1E-B399-508C7E0E97D1}" type="presParOf" srcId="{04E51E9C-48C7-48DB-888B-EED444F178EF}" destId="{714A7FD6-DAEB-4F0F-88F0-FD54528C557E}" srcOrd="3" destOrd="0" presId="urn:microsoft.com/office/officeart/2005/8/layout/vList2"/>
    <dgm:cxn modelId="{4CF80D63-BD71-4F26-AB26-0B2D90631388}" type="presParOf" srcId="{04E51E9C-48C7-48DB-888B-EED444F178EF}" destId="{6D7BB99C-D6D7-40C9-B1F4-795AD334E37B}" srcOrd="4" destOrd="0" presId="urn:microsoft.com/office/officeart/2005/8/layout/vList2"/>
    <dgm:cxn modelId="{58E25697-578B-4CAD-8335-0B50D15AC2F7}" type="presParOf" srcId="{04E51E9C-48C7-48DB-888B-EED444F178EF}" destId="{9B31822B-C257-47EF-A9AA-231FD0647376}" srcOrd="5" destOrd="0" presId="urn:microsoft.com/office/officeart/2005/8/layout/vList2"/>
    <dgm:cxn modelId="{3E0763E5-748A-4789-BDB9-7F4B3BA0B8A7}" type="presParOf" srcId="{04E51E9C-48C7-48DB-888B-EED444F178EF}" destId="{969F743D-C113-454D-B3BD-5400802FE2F5}" srcOrd="6" destOrd="0" presId="urn:microsoft.com/office/officeart/2005/8/layout/vList2"/>
    <dgm:cxn modelId="{B3BB70D9-EE12-41CB-BABF-3610CA524368}" type="presParOf" srcId="{04E51E9C-48C7-48DB-888B-EED444F178EF}" destId="{42F56A25-83F8-4CB4-9844-12F461302669}" srcOrd="7" destOrd="0" presId="urn:microsoft.com/office/officeart/2005/8/layout/vList2"/>
    <dgm:cxn modelId="{6E292D64-6C91-403B-81D8-ED75F8F5A141}" type="presParOf" srcId="{04E51E9C-48C7-48DB-888B-EED444F178EF}" destId="{93B461D9-F246-4A82-AE73-7B4E37351EDE}" srcOrd="8" destOrd="0" presId="urn:microsoft.com/office/officeart/2005/8/layout/vList2"/>
    <dgm:cxn modelId="{5A349E4F-1295-4692-BD32-89C8326BE954}" type="presParOf" srcId="{04E51E9C-48C7-48DB-888B-EED444F178EF}" destId="{C7024007-E2AF-4880-AD05-D833990D8BEA}" srcOrd="9" destOrd="0" presId="urn:microsoft.com/office/officeart/2005/8/layout/vList2"/>
    <dgm:cxn modelId="{99119C01-77AF-44E5-AE84-D9EF0C7793AF}" type="presParOf" srcId="{04E51E9C-48C7-48DB-888B-EED444F178EF}" destId="{162E29BB-CF5B-4282-9507-A98D543FA4A1}" srcOrd="10" destOrd="0" presId="urn:microsoft.com/office/officeart/2005/8/layout/vList2"/>
    <dgm:cxn modelId="{65C9E48E-1FED-4A12-8ACA-EB8797865A3C}" type="presParOf" srcId="{04E51E9C-48C7-48DB-888B-EED444F178EF}" destId="{EDF9A26E-0E0A-4C66-8C81-74B2A208EED4}" srcOrd="11" destOrd="0" presId="urn:microsoft.com/office/officeart/2005/8/layout/vList2"/>
    <dgm:cxn modelId="{FEE9D066-D9E0-465A-93C3-C7A423D2D8C3}" type="presParOf" srcId="{04E51E9C-48C7-48DB-888B-EED444F178EF}" destId="{96719990-B96D-4C27-B4B3-9CC5B74D7FE1}" srcOrd="12" destOrd="0" presId="urn:microsoft.com/office/officeart/2005/8/layout/vList2"/>
    <dgm:cxn modelId="{45E220F8-BE9F-432C-A8D7-5C93BFFB2817}" type="presParOf" srcId="{04E51E9C-48C7-48DB-888B-EED444F178EF}" destId="{9B63A6AA-EE79-45DA-A47B-5F7DCB48371C}" srcOrd="13" destOrd="0" presId="urn:microsoft.com/office/officeart/2005/8/layout/vList2"/>
    <dgm:cxn modelId="{43884683-A419-40EF-9153-6E28A066D590}" type="presParOf" srcId="{04E51E9C-48C7-48DB-888B-EED444F178EF}" destId="{5B9F1737-5EA0-43DD-AD05-E5A55D78DDDA}" srcOrd="1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9A9763-7558-4F3A-A390-6B681C4E5D56}">
      <dsp:nvSpPr>
        <dsp:cNvPr id="0" name=""/>
        <dsp:cNvSpPr/>
      </dsp:nvSpPr>
      <dsp:spPr>
        <a:xfrm>
          <a:off x="0" y="10399"/>
          <a:ext cx="6666833" cy="63882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To maintain accurate student, faculty, course, and department records.</a:t>
          </a:r>
        </a:p>
      </dsp:txBody>
      <dsp:txXfrm>
        <a:off x="31185" y="41584"/>
        <a:ext cx="6604463" cy="576450"/>
      </dsp:txXfrm>
    </dsp:sp>
    <dsp:sp modelId="{B11E72FD-01AB-4657-81D3-109417B8B0D6}">
      <dsp:nvSpPr>
        <dsp:cNvPr id="0" name=""/>
        <dsp:cNvSpPr/>
      </dsp:nvSpPr>
      <dsp:spPr>
        <a:xfrm>
          <a:off x="0" y="695299"/>
          <a:ext cx="6666833" cy="638820"/>
        </a:xfrm>
        <a:prstGeom prst="roundRect">
          <a:avLst/>
        </a:prstGeom>
        <a:gradFill rotWithShape="0">
          <a:gsLst>
            <a:gs pos="0">
              <a:schemeClr val="accent2">
                <a:hueOff val="920516"/>
                <a:satOff val="-2642"/>
                <a:lumOff val="-423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920516"/>
                <a:satOff val="-2642"/>
                <a:lumOff val="-423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920516"/>
                <a:satOff val="-2642"/>
                <a:lumOff val="-423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To record and monitor student attendance for each course.</a:t>
          </a:r>
        </a:p>
      </dsp:txBody>
      <dsp:txXfrm>
        <a:off x="31185" y="726484"/>
        <a:ext cx="6604463" cy="576450"/>
      </dsp:txXfrm>
    </dsp:sp>
    <dsp:sp modelId="{6D7BB99C-D6D7-40C9-B1F4-795AD334E37B}">
      <dsp:nvSpPr>
        <dsp:cNvPr id="0" name=""/>
        <dsp:cNvSpPr/>
      </dsp:nvSpPr>
      <dsp:spPr>
        <a:xfrm>
          <a:off x="0" y="1380199"/>
          <a:ext cx="6666833" cy="638820"/>
        </a:xfrm>
        <a:prstGeom prst="roundRect">
          <a:avLst/>
        </a:prstGeom>
        <a:gradFill rotWithShape="0">
          <a:gsLst>
            <a:gs pos="0">
              <a:schemeClr val="accent2">
                <a:hueOff val="1841033"/>
                <a:satOff val="-5284"/>
                <a:lumOff val="-846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841033"/>
                <a:satOff val="-5284"/>
                <a:lumOff val="-846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841033"/>
                <a:satOff val="-5284"/>
                <a:lumOff val="-846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To manage course enrollments and examination details.</a:t>
          </a:r>
        </a:p>
      </dsp:txBody>
      <dsp:txXfrm>
        <a:off x="31185" y="1411384"/>
        <a:ext cx="6604463" cy="576450"/>
      </dsp:txXfrm>
    </dsp:sp>
    <dsp:sp modelId="{969F743D-C113-454D-B3BD-5400802FE2F5}">
      <dsp:nvSpPr>
        <dsp:cNvPr id="0" name=""/>
        <dsp:cNvSpPr/>
      </dsp:nvSpPr>
      <dsp:spPr>
        <a:xfrm>
          <a:off x="0" y="2065099"/>
          <a:ext cx="6666833" cy="638820"/>
        </a:xfrm>
        <a:prstGeom prst="roundRect">
          <a:avLst/>
        </a:prstGeom>
        <a:gradFill rotWithShape="0">
          <a:gsLst>
            <a:gs pos="0">
              <a:schemeClr val="accent2">
                <a:hueOff val="2761549"/>
                <a:satOff val="-7926"/>
                <a:lumOff val="-126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761549"/>
                <a:satOff val="-7926"/>
                <a:lumOff val="-126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761549"/>
                <a:satOff val="-7926"/>
                <a:lumOff val="-126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To track student performance through marks and grades.</a:t>
          </a:r>
        </a:p>
      </dsp:txBody>
      <dsp:txXfrm>
        <a:off x="31185" y="2096284"/>
        <a:ext cx="6604463" cy="576450"/>
      </dsp:txXfrm>
    </dsp:sp>
    <dsp:sp modelId="{93B461D9-F246-4A82-AE73-7B4E37351EDE}">
      <dsp:nvSpPr>
        <dsp:cNvPr id="0" name=""/>
        <dsp:cNvSpPr/>
      </dsp:nvSpPr>
      <dsp:spPr>
        <a:xfrm>
          <a:off x="0" y="2750000"/>
          <a:ext cx="6666833" cy="638820"/>
        </a:xfrm>
        <a:prstGeom prst="roundRect">
          <a:avLst/>
        </a:prstGeom>
        <a:gradFill rotWithShape="0">
          <a:gsLst>
            <a:gs pos="0">
              <a:schemeClr val="accent2">
                <a:hueOff val="3682065"/>
                <a:satOff val="-10567"/>
                <a:lumOff val="-1691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682065"/>
                <a:satOff val="-10567"/>
                <a:lumOff val="-1691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682065"/>
                <a:satOff val="-10567"/>
                <a:lumOff val="-1691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To identify students with low attendance or poor academic performance.</a:t>
          </a:r>
        </a:p>
      </dsp:txBody>
      <dsp:txXfrm>
        <a:off x="31185" y="2781185"/>
        <a:ext cx="6604463" cy="576450"/>
      </dsp:txXfrm>
    </dsp:sp>
    <dsp:sp modelId="{162E29BB-CF5B-4282-9507-A98D543FA4A1}">
      <dsp:nvSpPr>
        <dsp:cNvPr id="0" name=""/>
        <dsp:cNvSpPr/>
      </dsp:nvSpPr>
      <dsp:spPr>
        <a:xfrm>
          <a:off x="0" y="3434900"/>
          <a:ext cx="6666833" cy="638820"/>
        </a:xfrm>
        <a:prstGeom prst="roundRect">
          <a:avLst/>
        </a:prstGeom>
        <a:gradFill rotWithShape="0">
          <a:gsLst>
            <a:gs pos="0">
              <a:schemeClr val="accent2">
                <a:hueOff val="4602581"/>
                <a:satOff val="-13209"/>
                <a:lumOff val="-2114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602581"/>
                <a:satOff val="-13209"/>
                <a:lumOff val="-2114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602581"/>
                <a:satOff val="-13209"/>
                <a:lumOff val="-2114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To generate reports that support academic monitoring and decision-     making.</a:t>
          </a:r>
        </a:p>
      </dsp:txBody>
      <dsp:txXfrm>
        <a:off x="31185" y="3466085"/>
        <a:ext cx="6604463" cy="576450"/>
      </dsp:txXfrm>
    </dsp:sp>
    <dsp:sp modelId="{96719990-B96D-4C27-B4B3-9CC5B74D7FE1}">
      <dsp:nvSpPr>
        <dsp:cNvPr id="0" name=""/>
        <dsp:cNvSpPr/>
      </dsp:nvSpPr>
      <dsp:spPr>
        <a:xfrm>
          <a:off x="0" y="4119800"/>
          <a:ext cx="6666833" cy="638820"/>
        </a:xfrm>
        <a:prstGeom prst="roundRect">
          <a:avLst/>
        </a:prstGeom>
        <a:gradFill rotWithShape="0">
          <a:gsLst>
            <a:gs pos="0">
              <a:schemeClr val="accent2">
                <a:hueOff val="5523098"/>
                <a:satOff val="-15851"/>
                <a:lumOff val="-2537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523098"/>
                <a:satOff val="-15851"/>
                <a:lumOff val="-2537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523098"/>
                <a:satOff val="-15851"/>
                <a:lumOff val="-2537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To reduce manual record-keeping and improve data accuracy.</a:t>
          </a:r>
        </a:p>
      </dsp:txBody>
      <dsp:txXfrm>
        <a:off x="31185" y="4150985"/>
        <a:ext cx="6604463" cy="576450"/>
      </dsp:txXfrm>
    </dsp:sp>
    <dsp:sp modelId="{5B9F1737-5EA0-43DD-AD05-E5A55D78DDDA}">
      <dsp:nvSpPr>
        <dsp:cNvPr id="0" name=""/>
        <dsp:cNvSpPr/>
      </dsp:nvSpPr>
      <dsp:spPr>
        <a:xfrm>
          <a:off x="0" y="4804700"/>
          <a:ext cx="6666833" cy="63882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To demonstrate the use of SQL concepts such as tables, relationships, primary keys, foreign keys, joins, and queries.</a:t>
          </a:r>
        </a:p>
      </dsp:txBody>
      <dsp:txXfrm>
        <a:off x="31185" y="4835885"/>
        <a:ext cx="6604463" cy="5764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84914" y="638650"/>
            <a:ext cx="8112858" cy="5313966"/>
          </a:xfrm>
        </p:spPr>
        <p:txBody>
          <a:bodyPr anchor="t">
            <a:normAutofit fontScale="90000"/>
          </a:bodyPr>
          <a:lstStyle/>
          <a:p>
            <a:pPr algn="r"/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r>
              <a:rPr lang="en-US" sz="2800" b="1" dirty="0">
                <a:solidFill>
                  <a:srgbClr val="FFFFFF"/>
                </a:solidFill>
              </a:rPr>
              <a:t>STUDENT ATTENDANCE AND PERFORMANCE TRACKER</a:t>
            </a:r>
            <a:br>
              <a:rPr lang="en-US" sz="2800" dirty="0"/>
            </a:br>
            <a:br>
              <a:rPr lang="en-US" sz="2800" dirty="0"/>
            </a:br>
            <a:br>
              <a:rPr lang="en-US" sz="2000" dirty="0"/>
            </a:br>
            <a:br>
              <a:rPr lang="en-US" sz="2000" dirty="0"/>
            </a:br>
            <a:r>
              <a:rPr lang="en-US" sz="2000" dirty="0">
                <a:solidFill>
                  <a:srgbClr val="FFFFFF"/>
                </a:solidFill>
                <a:ea typeface="+mj-lt"/>
                <a:cs typeface="+mj-lt"/>
              </a:rPr>
              <a:t>          </a:t>
            </a:r>
            <a:br>
              <a:rPr lang="en-US" sz="2000" dirty="0">
                <a:solidFill>
                  <a:srgbClr val="FFFFFF"/>
                </a:solidFill>
                <a:ea typeface="+mj-lt"/>
                <a:cs typeface="+mj-lt"/>
              </a:rPr>
            </a:br>
            <a:br>
              <a:rPr lang="en-US" sz="2000" dirty="0">
                <a:solidFill>
                  <a:srgbClr val="FFFFFF"/>
                </a:solidFill>
                <a:ea typeface="+mj-lt"/>
                <a:cs typeface="+mj-lt"/>
              </a:rPr>
            </a:br>
            <a:r>
              <a:rPr lang="en-US" sz="2000" dirty="0">
                <a:solidFill>
                  <a:srgbClr val="FFFFFF"/>
                </a:solidFill>
                <a:ea typeface="+mj-lt"/>
                <a:cs typeface="+mj-lt"/>
              </a:rPr>
              <a:t>  </a:t>
            </a:r>
            <a:r>
              <a:rPr lang="en-US" sz="2000" dirty="0">
                <a:ea typeface="+mj-lt"/>
                <a:cs typeface="+mj-lt"/>
              </a:rPr>
              <a:t>Prepared By</a:t>
            </a:r>
            <a:r>
              <a:rPr lang="en-US" sz="2000" dirty="0">
                <a:solidFill>
                  <a:srgbClr val="FFFFFF"/>
                </a:solidFill>
                <a:ea typeface="+mj-lt"/>
                <a:cs typeface="+mj-lt"/>
              </a:rPr>
              <a:t>: Harshit Pandey and Geetha</a:t>
            </a:r>
            <a:endParaRPr lang="en-US" sz="2000" dirty="0">
              <a:solidFill>
                <a:srgbClr val="FFFFFF"/>
              </a:solidFill>
            </a:endParaRPr>
          </a:p>
          <a:p>
            <a:pPr algn="r"/>
            <a:br>
              <a:rPr lang="en-US" sz="2000" dirty="0">
                <a:ea typeface="+mj-lt"/>
                <a:cs typeface="+mj-lt"/>
              </a:rPr>
            </a:br>
            <a:br>
              <a:rPr lang="en-US" sz="2000" dirty="0">
                <a:ea typeface="+mj-lt"/>
                <a:cs typeface="+mj-lt"/>
              </a:rPr>
            </a:br>
            <a:br>
              <a:rPr lang="en-US" sz="2000" dirty="0">
                <a:ea typeface="+mj-lt"/>
                <a:cs typeface="+mj-lt"/>
              </a:rPr>
            </a:br>
            <a:r>
              <a:rPr lang="en-US" sz="2000" dirty="0">
                <a:solidFill>
                  <a:srgbClr val="FFFFFF"/>
                </a:solidFill>
                <a:ea typeface="+mj-lt"/>
                <a:cs typeface="+mj-lt"/>
              </a:rPr>
              <a:t>                                                                          </a:t>
            </a:r>
            <a:r>
              <a:rPr lang="en-US" sz="2000" dirty="0">
                <a:ea typeface="+mj-lt"/>
                <a:cs typeface="+mj-lt"/>
              </a:rPr>
              <a:t> Enrollment No</a:t>
            </a:r>
            <a:r>
              <a:rPr lang="en-US" sz="2000" dirty="0">
                <a:solidFill>
                  <a:srgbClr val="FFFFFF"/>
                </a:solidFill>
                <a:ea typeface="+mj-lt"/>
                <a:cs typeface="+mj-lt"/>
              </a:rPr>
              <a:t>:EN12026096961</a:t>
            </a:r>
            <a:endParaRPr lang="en-US" sz="2000" dirty="0">
              <a:solidFill>
                <a:srgbClr val="FFFFFF"/>
              </a:solidFill>
            </a:endParaRPr>
          </a:p>
          <a:p>
            <a:pPr algn="r"/>
            <a:r>
              <a:rPr lang="en-US" sz="2000" dirty="0">
                <a:solidFill>
                  <a:srgbClr val="FFFFFF"/>
                </a:solidFill>
                <a:ea typeface="+mj-lt"/>
                <a:cs typeface="+mj-lt"/>
              </a:rPr>
              <a:t>                                                                           </a:t>
            </a:r>
            <a:r>
              <a:rPr lang="en-US" sz="2000" dirty="0">
                <a:ea typeface="+mj-lt"/>
                <a:cs typeface="+mj-lt"/>
              </a:rPr>
              <a:t>Enrollment No</a:t>
            </a:r>
            <a:r>
              <a:rPr lang="en-US" sz="2000" dirty="0">
                <a:solidFill>
                  <a:srgbClr val="FFFFFF"/>
                </a:solidFill>
                <a:ea typeface="+mj-lt"/>
                <a:cs typeface="+mj-lt"/>
              </a:rPr>
              <a:t>:EN12027097079</a:t>
            </a:r>
            <a:endParaRPr lang="en-US" sz="2000" dirty="0">
              <a:solidFill>
                <a:srgbClr val="FFFFFF"/>
              </a:solidFill>
            </a:endParaRPr>
          </a:p>
          <a:p>
            <a:pPr algn="r"/>
            <a:endParaRPr lang="en-US" sz="2000" dirty="0">
              <a:solidFill>
                <a:srgbClr val="FFFFFF"/>
              </a:solidFill>
            </a:endParaRPr>
          </a:p>
          <a:p>
            <a:pPr algn="r"/>
            <a:r>
              <a:rPr lang="en-US" sz="2000" dirty="0">
                <a:solidFill>
                  <a:srgbClr val="FFFFFF"/>
                </a:solidFill>
              </a:rPr>
              <a:t>                                                         </a:t>
            </a:r>
            <a:r>
              <a:rPr lang="en-US" sz="2000" dirty="0"/>
              <a:t>Batch code</a:t>
            </a:r>
            <a:r>
              <a:rPr lang="en-US" sz="2000" dirty="0">
                <a:solidFill>
                  <a:srgbClr val="FFFFFF"/>
                </a:solidFill>
              </a:rPr>
              <a:t>:DA804S80    </a:t>
            </a:r>
          </a:p>
          <a:p>
            <a:pPr algn="r"/>
            <a:endParaRPr lang="en-US" sz="2000" dirty="0">
              <a:solidFill>
                <a:srgbClr val="FFFFFF"/>
              </a:solidFill>
            </a:endParaRPr>
          </a:p>
          <a:p>
            <a:pPr algn="r"/>
            <a:endParaRPr lang="en-US" sz="2000" dirty="0">
              <a:solidFill>
                <a:srgbClr val="FFFFFF"/>
              </a:solidFill>
            </a:endParaRPr>
          </a:p>
          <a:p>
            <a:pPr algn="r"/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endParaRPr lang="en-US" sz="2000">
              <a:solidFill>
                <a:srgbClr val="FFFFFF"/>
              </a:solidFill>
            </a:endParaRPr>
          </a:p>
          <a:p>
            <a:pPr algn="l"/>
            <a:endParaRPr lang="en-US" sz="2000">
              <a:solidFill>
                <a:srgbClr val="FFFFFF"/>
              </a:solidFill>
            </a:endParaRPr>
          </a:p>
          <a:p>
            <a:pPr algn="l"/>
            <a:endParaRPr lang="en-US" sz="2000">
              <a:solidFill>
                <a:srgbClr val="FFFFFF"/>
              </a:solidFill>
            </a:endParaRP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9C7003-3453-A206-B3E4-5D238D1B7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  <a:latin typeface="Aptos"/>
              </a:rPr>
              <a:t>Introduction</a:t>
            </a:r>
            <a:endParaRPr lang="en-US" sz="3600">
              <a:solidFill>
                <a:schemeClr val="tx2"/>
              </a:solidFill>
            </a:endParaRPr>
          </a:p>
        </p:txBody>
      </p:sp>
      <p:pic>
        <p:nvPicPr>
          <p:cNvPr id="7" name="Graphic 6" descr="Books">
            <a:extLst>
              <a:ext uri="{FF2B5EF4-FFF2-40B4-BE49-F238E27FC236}">
                <a16:creationId xmlns:a16="http://schemas.microsoft.com/office/drawing/2014/main" id="{DC4434F8-0998-476A-8217-FEC717DA78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C574F8-9C27-AD49-AE4B-783EB7F1C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1623964"/>
            <a:ext cx="4977578" cy="443700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endParaRPr lang="en-US" sz="1600" dirty="0">
              <a:solidFill>
                <a:schemeClr val="tx2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  <a:ea typeface="+mn-lt"/>
                <a:cs typeface="+mn-lt"/>
              </a:rPr>
              <a:t>Managing student attendance and academic performance manually can be time-consuming and prone to errors.</a:t>
            </a:r>
            <a:endParaRPr lang="en-US" sz="16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  <a:ea typeface="+mn-lt"/>
                <a:cs typeface="+mn-lt"/>
              </a:rPr>
              <a:t>This project provides a  database system that helps educational institutions store, manage, and analyze student attendance and performance records efficiently.</a:t>
            </a:r>
            <a:endParaRPr lang="en-US" sz="16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  <a:ea typeface="+mn-lt"/>
                <a:cs typeface="+mn-lt"/>
              </a:rPr>
              <a:t>The system allows quick access to student information, attendance records, examination results, and performance reports.</a:t>
            </a:r>
            <a:endParaRPr lang="en-US" sz="1600" dirty="0">
              <a:solidFill>
                <a:schemeClr val="tx2"/>
              </a:solidFill>
            </a:endParaRPr>
          </a:p>
          <a:p>
            <a:pPr marL="0" indent="0">
              <a:buNone/>
            </a:pPr>
            <a:br>
              <a:rPr lang="en-US" sz="1300" dirty="0"/>
            </a:br>
            <a:endParaRPr lang="en-US" sz="1600" dirty="0">
              <a:solidFill>
                <a:schemeClr val="tx2"/>
              </a:solidFill>
            </a:endParaRPr>
          </a:p>
          <a:p>
            <a:endParaRPr lang="en-US" sz="16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68698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E3DBD6-5B51-E544-81FE-6EDD6214F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>
                <a:highlight>
                  <a:srgbClr val="FFFFFF"/>
                </a:highlight>
                <a:latin typeface="Arial"/>
                <a:cs typeface="Arial"/>
              </a:rPr>
              <a:t>   Problem Statement</a:t>
            </a:r>
            <a:endParaRPr lang="en-US" sz="4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DED21-2598-1882-F421-56DD2B5EB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3269" y="421698"/>
            <a:ext cx="5916603" cy="577291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highlight>
                  <a:srgbClr val="FFFFFF"/>
                </a:highlight>
                <a:latin typeface="Arial"/>
                <a:cs typeface="Arial"/>
              </a:rPr>
              <a:t>Existing Problems</a:t>
            </a:r>
            <a:endParaRPr lang="en-US" sz="2000" b="1" dirty="0"/>
          </a:p>
          <a:p>
            <a:r>
              <a:rPr lang="en-US" sz="2000" dirty="0">
                <a:highlight>
                  <a:srgbClr val="FFFFFF"/>
                </a:highlight>
                <a:latin typeface="Arial"/>
                <a:cs typeface="Arial"/>
              </a:rPr>
              <a:t>Attendance records are difficult to maintain manually.</a:t>
            </a:r>
            <a:endParaRPr lang="en-US" sz="2000" dirty="0"/>
          </a:p>
          <a:p>
            <a:r>
              <a:rPr lang="en-US" sz="2000" dirty="0">
                <a:highlight>
                  <a:srgbClr val="FFFFFF"/>
                </a:highlight>
                <a:latin typeface="Arial"/>
                <a:cs typeface="Arial"/>
              </a:rPr>
              <a:t>Student performance data is scattered across different files.</a:t>
            </a:r>
            <a:endParaRPr lang="en-US" sz="2000" dirty="0"/>
          </a:p>
          <a:p>
            <a:r>
              <a:rPr lang="en-US" sz="2000" dirty="0">
                <a:highlight>
                  <a:srgbClr val="FFFFFF"/>
                </a:highlight>
                <a:latin typeface="Arial"/>
                <a:cs typeface="Arial"/>
              </a:rPr>
              <a:t>Generating reports takes significant time.</a:t>
            </a:r>
            <a:endParaRPr lang="en-US" sz="2000" dirty="0"/>
          </a:p>
          <a:p>
            <a:r>
              <a:rPr lang="en-US" sz="2000" dirty="0">
                <a:highlight>
                  <a:srgbClr val="FFFFFF"/>
                </a:highlight>
                <a:latin typeface="Arial"/>
                <a:cs typeface="Arial"/>
              </a:rPr>
              <a:t>Identifying low-performing students is challenging.</a:t>
            </a:r>
            <a:endParaRPr lang="en-US" sz="2000" dirty="0"/>
          </a:p>
          <a:p>
            <a:r>
              <a:rPr lang="en-US" sz="2000" dirty="0">
                <a:highlight>
                  <a:srgbClr val="FFFFFF"/>
                </a:highlight>
                <a:latin typeface="Arial"/>
                <a:cs typeface="Arial"/>
              </a:rPr>
              <a:t>Maintaining data consistency is difficult.</a:t>
            </a:r>
            <a:endParaRPr lang="en-US" sz="2000" dirty="0"/>
          </a:p>
          <a:p>
            <a:r>
              <a:rPr lang="en-US" sz="2000" dirty="0">
                <a:highlight>
                  <a:srgbClr val="FFFFFF"/>
                </a:highlight>
                <a:latin typeface="Arial"/>
                <a:cs typeface="Arial"/>
              </a:rPr>
              <a:t>Lack of  data management.</a:t>
            </a:r>
          </a:p>
          <a:p>
            <a:pPr marL="0" indent="0">
              <a:buNone/>
            </a:pPr>
            <a:r>
              <a:rPr lang="en-US" sz="2000" dirty="0"/>
              <a:t> </a:t>
            </a:r>
          </a:p>
          <a:p>
            <a:pPr marL="0" indent="0">
              <a:buNone/>
            </a:pPr>
            <a:r>
              <a:rPr lang="en-US" sz="2000" b="1" dirty="0"/>
              <a:t>Proposed Solution</a:t>
            </a:r>
          </a:p>
          <a:p>
            <a:pPr marL="0" indent="0">
              <a:buNone/>
            </a:pPr>
            <a:r>
              <a:rPr lang="en-US" sz="2000" dirty="0"/>
              <a:t>Develop a MYSQL-based database system that stores attendance and performance data in a structured format and generates useful reports automatically.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353083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B657BD-376C-39E8-801E-227CC340F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2568659"/>
            <a:ext cx="3115265" cy="1302521"/>
          </a:xfrm>
        </p:spPr>
        <p:txBody>
          <a:bodyPr anchor="b">
            <a:normAutofit/>
          </a:bodyPr>
          <a:lstStyle/>
          <a:p>
            <a:pPr algn="r"/>
            <a:r>
              <a:rPr lang="en-US">
                <a:solidFill>
                  <a:srgbClr val="FF0000"/>
                </a:solidFill>
                <a:highlight>
                  <a:srgbClr val="FFFFFF"/>
                </a:highlight>
                <a:latin typeface="Arial"/>
                <a:cs typeface="Arial"/>
              </a:rPr>
              <a:t>Objectives</a:t>
            </a:r>
            <a:endParaRPr lang="en-US">
              <a:solidFill>
                <a:srgbClr val="FF0000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EE65447-2F0A-23D2-98FD-9B5CC5DB86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767799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27638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2CE431-F06E-CC66-54F7-1A56ACDB8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US" sz="5600">
                <a:solidFill>
                  <a:srgbClr val="FFFFFF"/>
                </a:solidFill>
                <a:latin typeface="Aptos"/>
              </a:rPr>
              <a:t>Database Design</a:t>
            </a:r>
            <a:endParaRPr lang="en-US"/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6860E-9804-32A6-79AC-37711FD8F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1722" y="332688"/>
            <a:ext cx="5644440" cy="624877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b="1" dirty="0"/>
              <a:t>The database consists of the following entities:</a:t>
            </a:r>
            <a:endParaRPr lang="en-US" b="1" dirty="0">
              <a:solidFill>
                <a:schemeClr val="tx1">
                  <a:alpha val="80000"/>
                </a:schemeClr>
              </a:solidFill>
            </a:endParaRPr>
          </a:p>
          <a:p>
            <a:pPr>
              <a:spcBef>
                <a:spcPts val="0"/>
              </a:spcBef>
            </a:pP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Department 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Student 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Faculty 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Course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Enrollment 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Attendance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Exam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Result</a:t>
            </a:r>
          </a:p>
          <a:p>
            <a:pPr>
              <a:spcBef>
                <a:spcPts val="0"/>
              </a:spcBef>
            </a:pP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Alert Log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>
              <a:solidFill>
                <a:srgbClr val="000000">
                  <a:alpha val="80000"/>
                </a:srgbClr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The database is designed in normalized form to reduce redundancy and improve consistency</a:t>
            </a:r>
            <a:endParaRPr lang="en-US" dirty="0">
              <a:solidFill>
                <a:srgbClr val="000000">
                  <a:alpha val="80000"/>
                </a:srgbClr>
              </a:solidFill>
            </a:endParaRPr>
          </a:p>
          <a:p>
            <a:endParaRPr lang="en-US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251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AF50F1-6D2A-DA86-A701-A98956C79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1718" y="0"/>
            <a:ext cx="122637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8658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F7A49E-CAAE-EA9D-EEA9-F99C9D5F4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6200">
                <a:solidFill>
                  <a:srgbClr val="FFFFFF"/>
                </a:solidFill>
              </a:rPr>
              <a:t>Database Constraints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0E6D0-FB35-3B1A-1BAA-1D5B5DCBA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3249" y="518400"/>
            <a:ext cx="5035592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Arial"/>
                <a:cs typeface="Arial"/>
              </a:rPr>
              <a:t>Constraints Implemented</a:t>
            </a:r>
            <a:endParaRPr lang="en-US" sz="2000" b="1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br>
              <a:rPr lang="en-US" sz="2000" dirty="0">
                <a:solidFill>
                  <a:schemeClr val="tx1">
                    <a:alpha val="80000"/>
                  </a:schemeClr>
                </a:solidFill>
              </a:rPr>
            </a:br>
            <a:r>
              <a:rPr lang="en-US" sz="2000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Arial"/>
                <a:cs typeface="Arial"/>
              </a:rPr>
              <a:t>To ensure data accuracy and consistency:</a:t>
            </a: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Arial"/>
                <a:cs typeface="Arial"/>
              </a:rPr>
              <a:t>Primary Key</a:t>
            </a: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Arial"/>
                <a:cs typeface="Arial"/>
              </a:rPr>
              <a:t>Foreign Key</a:t>
            </a: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Arial"/>
                <a:cs typeface="Arial"/>
              </a:rPr>
              <a:t>Unique Constraint</a:t>
            </a: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Arial"/>
                <a:cs typeface="Arial"/>
              </a:rPr>
              <a:t>NOT NULL Constraint</a:t>
            </a: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Arial"/>
                <a:cs typeface="Arial"/>
              </a:rPr>
              <a:t>CHECK Constraint</a:t>
            </a: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endParaRPr lang="en-US" sz="2000" b="1" dirty="0">
              <a:solidFill>
                <a:schemeClr val="tx1">
                  <a:alpha val="80000"/>
                </a:schemeClr>
              </a:solidFill>
              <a:highlight>
                <a:srgbClr val="FFFFFF"/>
              </a:highlight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Arial"/>
                <a:cs typeface="Arial"/>
              </a:rPr>
              <a:t>Benefits</a:t>
            </a:r>
            <a:endParaRPr lang="en-US" sz="2000" b="1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Arial"/>
                <a:cs typeface="Arial"/>
              </a:rPr>
              <a:t>Prevent duplicate records</a:t>
            </a: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Arial"/>
                <a:cs typeface="Arial"/>
              </a:rPr>
              <a:t>Maintain referential integrity</a:t>
            </a: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  <a:highlight>
                  <a:srgbClr val="FFFFFF"/>
                </a:highlight>
                <a:latin typeface="Arial"/>
                <a:cs typeface="Arial"/>
              </a:rPr>
              <a:t>Improve data quality</a:t>
            </a:r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  <a:p>
            <a:endParaRPr lang="en-US" sz="20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2627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5F7ABCA-A68A-47DD-B732-76FF34C6F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1397A4-7A84-FD7D-60E3-7990FF870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5" y="3505199"/>
            <a:ext cx="4809068" cy="2608143"/>
          </a:xfrm>
        </p:spPr>
        <p:txBody>
          <a:bodyPr anchor="t">
            <a:normAutofit/>
          </a:bodyPr>
          <a:lstStyle/>
          <a:p>
            <a:pPr algn="ctr"/>
            <a:r>
              <a:rPr lang="en-US" sz="4000">
                <a:highlight>
                  <a:srgbClr val="FFFFFF"/>
                </a:highlight>
                <a:latin typeface="Arial"/>
                <a:cs typeface="Arial"/>
              </a:rPr>
              <a:t>SQL Operations Performed</a:t>
            </a:r>
            <a:endParaRPr lang="en-US" sz="4000"/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99E6F03F-57D8-A5AB-123D-60EA2DE525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0799" y="2519363"/>
            <a:ext cx="914400" cy="9144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86E7A-5C0B-AED2-DDE2-DAB3AAEDE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7100" y="643467"/>
            <a:ext cx="5668433" cy="540173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highlight>
                  <a:srgbClr val="FFFFFF"/>
                </a:highlight>
                <a:latin typeface="Arial"/>
                <a:cs typeface="Arial"/>
              </a:rPr>
              <a:t>                                                     </a:t>
            </a:r>
            <a:r>
              <a:rPr lang="en-US" sz="1600" b="1" dirty="0">
                <a:highlight>
                  <a:srgbClr val="FFFFFF"/>
                </a:highlight>
                <a:latin typeface="Arial"/>
                <a:cs typeface="Arial"/>
              </a:rPr>
              <a:t>SQL Concepts Used</a:t>
            </a:r>
            <a:endParaRPr lang="en-US" sz="1600" b="1" dirty="0"/>
          </a:p>
          <a:p>
            <a:pPr marL="0" indent="0">
              <a:buNone/>
            </a:pPr>
            <a:r>
              <a:rPr lang="en-US" sz="1400" b="1" dirty="0">
                <a:highlight>
                  <a:srgbClr val="FFFFFF"/>
                </a:highlight>
                <a:latin typeface="Arial"/>
                <a:cs typeface="Arial"/>
              </a:rPr>
              <a:t>DDL Commands</a:t>
            </a:r>
            <a:endParaRPr lang="en-US" sz="1400" b="1" dirty="0"/>
          </a:p>
          <a:p>
            <a:r>
              <a:rPr lang="en-US" sz="1100" dirty="0">
                <a:highlight>
                  <a:srgbClr val="FFFFFF"/>
                </a:highlight>
                <a:latin typeface="Arial"/>
                <a:cs typeface="Arial"/>
              </a:rPr>
              <a:t>CREATE</a:t>
            </a:r>
            <a:endParaRPr lang="en-US" sz="1100" dirty="0"/>
          </a:p>
          <a:p>
            <a:r>
              <a:rPr lang="en-US" sz="1100" dirty="0">
                <a:highlight>
                  <a:srgbClr val="FFFFFF"/>
                </a:highlight>
                <a:latin typeface="Arial"/>
                <a:cs typeface="Arial"/>
              </a:rPr>
              <a:t>ALTER</a:t>
            </a:r>
            <a:endParaRPr lang="en-US" sz="1100" dirty="0"/>
          </a:p>
          <a:p>
            <a:pPr marL="0" indent="0">
              <a:buNone/>
            </a:pPr>
            <a:r>
              <a:rPr lang="en-US" sz="1400" b="1" dirty="0">
                <a:highlight>
                  <a:srgbClr val="FFFFFF"/>
                </a:highlight>
                <a:latin typeface="Arial"/>
                <a:cs typeface="Arial"/>
              </a:rPr>
              <a:t>DML Commands</a:t>
            </a:r>
            <a:endParaRPr lang="en-US" sz="1400" b="1" dirty="0"/>
          </a:p>
          <a:p>
            <a:r>
              <a:rPr lang="en-US" sz="1100" dirty="0">
                <a:highlight>
                  <a:srgbClr val="FFFFFF"/>
                </a:highlight>
                <a:latin typeface="Arial"/>
                <a:cs typeface="Arial"/>
              </a:rPr>
              <a:t>INSERT</a:t>
            </a:r>
            <a:endParaRPr lang="en-US" sz="1100" dirty="0"/>
          </a:p>
          <a:p>
            <a:r>
              <a:rPr lang="en-US" sz="1100" dirty="0">
                <a:highlight>
                  <a:srgbClr val="FFFFFF"/>
                </a:highlight>
                <a:latin typeface="Arial"/>
                <a:cs typeface="Arial"/>
              </a:rPr>
              <a:t>UPDATE</a:t>
            </a:r>
            <a:endParaRPr lang="en-US" sz="1100" dirty="0"/>
          </a:p>
          <a:p>
            <a:r>
              <a:rPr lang="en-US" sz="1100" dirty="0">
                <a:highlight>
                  <a:srgbClr val="FFFFFF"/>
                </a:highlight>
                <a:latin typeface="Arial"/>
                <a:cs typeface="Arial"/>
              </a:rPr>
              <a:t>DELETE</a:t>
            </a:r>
            <a:endParaRPr lang="en-US" sz="1100" dirty="0"/>
          </a:p>
          <a:p>
            <a:pPr marL="0" indent="0">
              <a:buNone/>
            </a:pPr>
            <a:r>
              <a:rPr lang="en-US" sz="1400" b="1" dirty="0">
                <a:highlight>
                  <a:srgbClr val="FFFFFF"/>
                </a:highlight>
                <a:latin typeface="Arial"/>
                <a:cs typeface="Arial"/>
              </a:rPr>
              <a:t>DQL Commands</a:t>
            </a:r>
            <a:endParaRPr lang="en-US" sz="1400" b="1" dirty="0"/>
          </a:p>
          <a:p>
            <a:r>
              <a:rPr lang="en-US" sz="1100" dirty="0">
                <a:highlight>
                  <a:srgbClr val="FFFFFF"/>
                </a:highlight>
                <a:latin typeface="Arial"/>
                <a:cs typeface="Arial"/>
              </a:rPr>
              <a:t>SELECT</a:t>
            </a:r>
            <a:endParaRPr lang="en-US" sz="1100" dirty="0"/>
          </a:p>
          <a:p>
            <a:r>
              <a:rPr lang="en-US" sz="1100" dirty="0">
                <a:highlight>
                  <a:srgbClr val="FFFFFF"/>
                </a:highlight>
                <a:latin typeface="Arial"/>
                <a:cs typeface="Arial"/>
              </a:rPr>
              <a:t>WHERE</a:t>
            </a:r>
            <a:endParaRPr lang="en-US" sz="1100" dirty="0"/>
          </a:p>
          <a:p>
            <a:r>
              <a:rPr lang="en-US" sz="1100" dirty="0">
                <a:highlight>
                  <a:srgbClr val="FFFFFF"/>
                </a:highlight>
                <a:latin typeface="Arial"/>
                <a:cs typeface="Arial"/>
              </a:rPr>
              <a:t>ORDER BY</a:t>
            </a:r>
            <a:endParaRPr lang="en-US" sz="1100" dirty="0"/>
          </a:p>
          <a:p>
            <a:pPr marL="0" indent="0">
              <a:buNone/>
            </a:pPr>
            <a:r>
              <a:rPr lang="en-US" sz="1400" b="1" dirty="0">
                <a:highlight>
                  <a:srgbClr val="FFFFFF"/>
                </a:highlight>
                <a:latin typeface="Arial"/>
                <a:cs typeface="Arial"/>
              </a:rPr>
              <a:t>Advanced Concepts</a:t>
            </a:r>
            <a:endParaRPr lang="en-US" sz="1400" b="1" dirty="0"/>
          </a:p>
          <a:p>
            <a:r>
              <a:rPr lang="en-US" sz="1100" dirty="0">
                <a:highlight>
                  <a:srgbClr val="FFFFFF"/>
                </a:highlight>
                <a:latin typeface="Arial"/>
                <a:cs typeface="Arial"/>
              </a:rPr>
              <a:t>Joins</a:t>
            </a:r>
            <a:endParaRPr lang="en-US" sz="1100" dirty="0"/>
          </a:p>
          <a:p>
            <a:r>
              <a:rPr lang="en-US" sz="1100" dirty="0">
                <a:highlight>
                  <a:srgbClr val="FFFFFF"/>
                </a:highlight>
                <a:latin typeface="Arial"/>
                <a:cs typeface="Arial"/>
              </a:rPr>
              <a:t>Subqueries</a:t>
            </a:r>
            <a:endParaRPr lang="en-US" sz="1100" dirty="0"/>
          </a:p>
          <a:p>
            <a:r>
              <a:rPr lang="en-US" sz="1100" dirty="0">
                <a:highlight>
                  <a:srgbClr val="FFFFFF"/>
                </a:highlight>
                <a:latin typeface="Arial"/>
                <a:cs typeface="Arial"/>
              </a:rPr>
              <a:t>Aggregate Functions</a:t>
            </a:r>
            <a:endParaRPr lang="en-US" sz="1100" dirty="0"/>
          </a:p>
          <a:p>
            <a:r>
              <a:rPr lang="en-US" sz="1100" dirty="0">
                <a:highlight>
                  <a:srgbClr val="FFFFFF"/>
                </a:highlight>
                <a:latin typeface="Arial"/>
                <a:cs typeface="Arial"/>
              </a:rPr>
              <a:t>Stored Procedures</a:t>
            </a:r>
            <a:endParaRPr lang="en-US" sz="1100" dirty="0"/>
          </a:p>
          <a:p>
            <a:r>
              <a:rPr lang="en-US" sz="1100" dirty="0">
                <a:highlight>
                  <a:srgbClr val="FFFFFF"/>
                </a:highlight>
                <a:latin typeface="Arial"/>
                <a:cs typeface="Arial"/>
              </a:rPr>
              <a:t>Triggers</a:t>
            </a:r>
            <a:endParaRPr lang="en-US" sz="1100" dirty="0"/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02988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1E33B-8028-F730-6C09-62E5B9B17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7992035" cy="932838"/>
          </a:xfrm>
        </p:spPr>
        <p:txBody>
          <a:bodyPr>
            <a:normAutofit/>
          </a:bodyPr>
          <a:lstStyle/>
          <a:p>
            <a:r>
              <a:rPr lang="en-US" sz="2000" b="1" dirty="0"/>
              <a:t>                                                                                       Important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C8F66-F838-BC1C-F159-ED8855D10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2683"/>
            <a:ext cx="10116671" cy="579148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Attendance Analysis                                                                                            Student Performance Analysis</a:t>
            </a:r>
            <a:endParaRPr lang="en-US" sz="1400" b="1" dirty="0"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n-US" sz="1400" b="1" dirty="0"/>
              <a:t>    </a:t>
            </a:r>
            <a:r>
              <a:rPr lang="en-US" sz="1200" b="1" dirty="0"/>
              <a:t>                                                                                               </a:t>
            </a:r>
            <a:r>
              <a:rPr lang="en-US" sz="1400" b="1" dirty="0"/>
              <a:t>                                                                            </a:t>
            </a:r>
            <a:r>
              <a:rPr lang="en-US" sz="140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Displays marks and grades obtained by student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Calculates attendance records for students.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sz="1600" b="1" dirty="0">
              <a:solidFill>
                <a:srgbClr val="222222"/>
              </a:solidFill>
              <a:highlight>
                <a:srgbClr val="FFFFFF"/>
              </a:highlight>
              <a:latin typeface="Arial"/>
              <a:cs typeface="Arial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500" b="1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Department-wise Student Count                                                                 </a:t>
            </a:r>
            <a:r>
              <a:rPr lang="en-US" sz="1600" b="1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Course Enrollment Analysis</a:t>
            </a:r>
            <a:endParaRPr lang="en-US" sz="1600" b="1" dirty="0"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Shows the number of students in each department</a:t>
            </a:r>
            <a:r>
              <a:rPr 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.</a:t>
            </a:r>
          </a:p>
          <a:p>
            <a:pPr marL="0" indent="0">
              <a:buNone/>
            </a:pPr>
            <a:r>
              <a:rPr lang="en-US" dirty="0"/>
              <a:t>                                                                                         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C8DDB8-29CE-1776-1B9A-31D5C59AB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362" y="1882588"/>
            <a:ext cx="4340062" cy="16405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1C3E49-9C5F-6788-0508-355476B20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5578" y="1524836"/>
            <a:ext cx="4096702" cy="21686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2FCC1A1-B040-3705-FC39-B2AE8F134C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675654"/>
            <a:ext cx="4549588" cy="195851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2512E80-45EC-083C-AD21-366338AE13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9179" y="4375612"/>
            <a:ext cx="5130774" cy="2464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737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4BEE4-CE05-6581-B1F3-416EA4894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540"/>
            <a:ext cx="10515600" cy="978870"/>
          </a:xfrm>
        </p:spPr>
        <p:txBody>
          <a:bodyPr/>
          <a:lstStyle/>
          <a:p>
            <a:r>
              <a:rPr lang="en-US" dirty="0"/>
              <a:t>Joins and Subqueries Joins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36A61-8F3F-84DD-6EE4-0B3180C55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933"/>
            <a:ext cx="10515600" cy="4703030"/>
          </a:xfrm>
        </p:spPr>
        <p:txBody>
          <a:bodyPr vert="horz" lIns="91440" tIns="45720" rIns="91440" bIns="45720" rtlCol="0" anchor="t"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    </a:t>
            </a:r>
            <a:r>
              <a:rPr lang="en-US" b="1" dirty="0">
                <a:ea typeface="+mn-lt"/>
                <a:cs typeface="+mn-lt"/>
              </a:rPr>
              <a:t>Used to combine information from multiple tables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    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Examples: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>
                <a:ea typeface="+mn-lt"/>
                <a:cs typeface="+mn-lt"/>
              </a:rPr>
              <a:t>Student and Department Report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Student Performance Report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Attendance Report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Subqueries</a:t>
            </a:r>
            <a:endParaRPr lang="en-US" dirty="0"/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     Used for advanced analysis.</a:t>
            </a:r>
            <a:endParaRPr lang="en-US" b="1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     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Examples: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>
                <a:ea typeface="+mn-lt"/>
                <a:cs typeface="+mn-lt"/>
              </a:rPr>
              <a:t>Students scoring above average marks.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Highest scoring student.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Largest department analysis.</a:t>
            </a:r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96B8CD-C3E9-B91A-891E-8638B98A4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35252"/>
            <a:ext cx="4715435" cy="31064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7E8566A-9BDC-B8B0-BC01-9D5683C75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9656" y="4334466"/>
            <a:ext cx="2796782" cy="244285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F0DD929-DD1E-EBE3-169A-C2C73EBF62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6438" y="4369308"/>
            <a:ext cx="4016009" cy="2281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3028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A146B-8381-2242-0C30-5569F2A1B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       Stored Procedures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A3C96-3550-4030-0260-94E354C10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798731"/>
            <a:ext cx="6109447" cy="49965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Implemented to automate key academic operations</a:t>
            </a:r>
            <a:r>
              <a:rPr lang="en-IN" dirty="0"/>
              <a:t>:</a:t>
            </a:r>
          </a:p>
          <a:p>
            <a:pPr marL="0" indent="0">
              <a:buNone/>
            </a:pPr>
            <a:r>
              <a:rPr lang="en-IN" dirty="0"/>
              <a:t>• </a:t>
            </a:r>
            <a:r>
              <a:rPr lang="en-IN" sz="2000" b="1" dirty="0"/>
              <a:t>AddStudent</a:t>
            </a:r>
            <a:r>
              <a:rPr lang="en-IN" dirty="0"/>
              <a:t> – </a:t>
            </a:r>
            <a:r>
              <a:rPr lang="en-IN" sz="1900" dirty="0"/>
              <a:t>Add new student records</a:t>
            </a:r>
          </a:p>
          <a:p>
            <a:pPr marL="0" indent="0">
              <a:buNone/>
            </a:pPr>
            <a:r>
              <a:rPr lang="en-IN" dirty="0"/>
              <a:t>• </a:t>
            </a:r>
            <a:r>
              <a:rPr lang="en-IN" sz="2000" b="1" dirty="0"/>
              <a:t>InsertResult</a:t>
            </a:r>
            <a:r>
              <a:rPr lang="en-IN" dirty="0"/>
              <a:t> – </a:t>
            </a:r>
            <a:r>
              <a:rPr lang="en-IN" sz="1800" dirty="0"/>
              <a:t>Insert marks and generate grades</a:t>
            </a:r>
          </a:p>
          <a:p>
            <a:pPr marL="0" indent="0">
              <a:buNone/>
            </a:pPr>
            <a:r>
              <a:rPr lang="en-IN" dirty="0"/>
              <a:t>• </a:t>
            </a:r>
            <a:r>
              <a:rPr lang="en-IN" sz="2000" b="1" dirty="0"/>
              <a:t>GetStudentPerformance</a:t>
            </a:r>
            <a:r>
              <a:rPr lang="en-IN" dirty="0"/>
              <a:t> – </a:t>
            </a:r>
            <a:r>
              <a:rPr lang="en-IN" sz="1800" dirty="0"/>
              <a:t>Generate student performance    reports</a:t>
            </a:r>
          </a:p>
          <a:p>
            <a:pPr marL="0" indent="0">
              <a:buNone/>
            </a:pPr>
            <a:r>
              <a:rPr lang="en-IN" dirty="0"/>
              <a:t>• </a:t>
            </a:r>
            <a:r>
              <a:rPr lang="en-IN" sz="2000" b="1" dirty="0"/>
              <a:t>MarkAttendance</a:t>
            </a:r>
            <a:r>
              <a:rPr lang="en-IN" dirty="0"/>
              <a:t> – </a:t>
            </a:r>
            <a:r>
              <a:rPr lang="en-IN" sz="1800" dirty="0"/>
              <a:t>Record student attendance</a:t>
            </a:r>
          </a:p>
          <a:p>
            <a:pPr marL="0" indent="0">
              <a:buNone/>
            </a:pPr>
            <a:r>
              <a:rPr lang="en-IN" dirty="0"/>
              <a:t>• </a:t>
            </a:r>
            <a:r>
              <a:rPr lang="en-IN" sz="2000" b="1" dirty="0"/>
              <a:t>GetCourseEnrollment</a:t>
            </a:r>
            <a:r>
              <a:rPr lang="en-IN" dirty="0"/>
              <a:t> – </a:t>
            </a:r>
            <a:r>
              <a:rPr lang="en-IN" sz="1800" dirty="0"/>
              <a:t>Display course-wise enrolment count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1B78D5-AACC-648A-3F3D-1C8998196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5458" y="1798730"/>
            <a:ext cx="6027942" cy="4833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248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EAF24-7C24-9EF8-4373-CAAF0D775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Triggers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FCAAD-E7E1-122A-794E-DD620101F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9" y="1529791"/>
            <a:ext cx="4935071" cy="4963084"/>
          </a:xfrm>
        </p:spPr>
        <p:txBody>
          <a:bodyPr/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Implemented to enforce data integrity and automate alerts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sz="2000" b="1" dirty="0"/>
              <a:t>Automatic Grade Assignment</a:t>
            </a:r>
            <a:r>
              <a:rPr lang="en-US" sz="2000" dirty="0"/>
              <a:t> : </a:t>
            </a:r>
            <a:r>
              <a:rPr lang="en-US" sz="1800" dirty="0"/>
              <a:t>Based on marks obtained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sz="2000" b="1" dirty="0"/>
              <a:t>Marks Validation</a:t>
            </a:r>
            <a:r>
              <a:rPr lang="en-US" sz="2000" dirty="0"/>
              <a:t> : </a:t>
            </a:r>
            <a:r>
              <a:rPr lang="en-US" sz="1800" dirty="0"/>
              <a:t>(accepts only values between 0–100)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sz="2000" b="1" dirty="0"/>
              <a:t>Attendance Alert Generation</a:t>
            </a:r>
            <a:r>
              <a:rPr lang="en-US" sz="2000" dirty="0"/>
              <a:t> :</a:t>
            </a:r>
            <a:r>
              <a:rPr lang="en-US" sz="1800" dirty="0"/>
              <a:t> When a student is marked absent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sz="2000" b="1" dirty="0"/>
              <a:t>Low Attendance Warning</a:t>
            </a:r>
            <a:r>
              <a:rPr lang="en-US" sz="2000" dirty="0"/>
              <a:t>  : </a:t>
            </a:r>
            <a:r>
              <a:rPr lang="en-US" sz="1800" dirty="0"/>
              <a:t>After repeated absences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C8AAF4-9AEA-164F-AA79-C470BA7A2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1435982"/>
            <a:ext cx="6920753" cy="53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150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CA795-6A15-2EBA-A406-F3383E4F4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4836"/>
            <a:ext cx="10515600" cy="513415"/>
          </a:xfrm>
        </p:spPr>
        <p:txBody>
          <a:bodyPr>
            <a:normAutofit fontScale="90000"/>
          </a:bodyPr>
          <a:lstStyle/>
          <a:p>
            <a:r>
              <a:rPr lang="en-US" dirty="0"/>
              <a:t>                                     EVENTS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46E86-B37F-FA1D-181E-6BF5F58320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77152"/>
            <a:ext cx="5602941" cy="570155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en-US" sz="2900" b="1" dirty="0"/>
          </a:p>
          <a:p>
            <a:pPr marL="0" indent="0">
              <a:buNone/>
            </a:pPr>
            <a:r>
              <a:rPr lang="en-US" sz="2900" b="1" dirty="0"/>
              <a:t>Event Scheduler Implementation</a:t>
            </a:r>
          </a:p>
          <a:p>
            <a:r>
              <a:rPr lang="en-US" dirty="0"/>
              <a:t>Implemented MySQL Event Scheduler for automated attendance monitoring. </a:t>
            </a:r>
          </a:p>
          <a:p>
            <a:r>
              <a:rPr lang="en-US" dirty="0"/>
              <a:t>Created a </a:t>
            </a:r>
            <a:r>
              <a:rPr lang="en-US" b="1" dirty="0"/>
              <a:t>daily attendance check event</a:t>
            </a:r>
            <a:r>
              <a:rPr lang="en-US" dirty="0"/>
              <a:t> that runs automatically every day. </a:t>
            </a:r>
          </a:p>
          <a:p>
            <a:r>
              <a:rPr lang="en-US" dirty="0"/>
              <a:t>Identifies students having </a:t>
            </a:r>
            <a:r>
              <a:rPr lang="en-US" b="1" dirty="0"/>
              <a:t>3 or more absences</a:t>
            </a:r>
            <a:r>
              <a:rPr lang="en-US" dirty="0"/>
              <a:t> from attendance records. </a:t>
            </a:r>
          </a:p>
          <a:p>
            <a:r>
              <a:rPr lang="en-US" dirty="0"/>
              <a:t>Automatically generates warning entries in the </a:t>
            </a:r>
            <a:r>
              <a:rPr lang="en-US" b="1" dirty="0"/>
              <a:t>Alert_Log</a:t>
            </a:r>
            <a:r>
              <a:rPr lang="en-US" dirty="0"/>
              <a:t> table. </a:t>
            </a:r>
          </a:p>
          <a:p>
            <a:r>
              <a:rPr lang="en-US" dirty="0"/>
              <a:t>Demonstrates database automation using scheduled tasks. </a:t>
            </a:r>
          </a:p>
          <a:p>
            <a:pPr marL="0" indent="0">
              <a:buNone/>
            </a:pPr>
            <a:endParaRPr lang="en-US" sz="2900" b="1" dirty="0"/>
          </a:p>
          <a:p>
            <a:pPr marL="0" indent="0">
              <a:buNone/>
            </a:pPr>
            <a:r>
              <a:rPr lang="en-US" sz="2900" b="1" dirty="0"/>
              <a:t>Benefits</a:t>
            </a:r>
          </a:p>
          <a:p>
            <a:r>
              <a:rPr lang="en-US" dirty="0"/>
              <a:t>Automated attendance monitoring. </a:t>
            </a:r>
          </a:p>
          <a:p>
            <a:r>
              <a:rPr lang="en-US" dirty="0"/>
              <a:t>Timely warning generation for students with low attendance. </a:t>
            </a:r>
          </a:p>
          <a:p>
            <a:r>
              <a:rPr lang="en-US" dirty="0"/>
              <a:t>Reduces manual effort and improves efficiency. </a:t>
            </a:r>
          </a:p>
          <a:p>
            <a:r>
              <a:rPr lang="en-US" dirty="0"/>
              <a:t>Ensures consistent execution of attendance checks. </a:t>
            </a:r>
          </a:p>
          <a:p>
            <a:pPr marL="0" indent="0">
              <a:buNone/>
            </a:pPr>
            <a:endParaRPr lang="en-US" sz="2900" b="1" dirty="0"/>
          </a:p>
          <a:p>
            <a:pPr marL="0" indent="0">
              <a:buNone/>
            </a:pPr>
            <a:r>
              <a:rPr lang="en-US" sz="2900" b="1" dirty="0"/>
              <a:t>Outcome</a:t>
            </a:r>
          </a:p>
          <a:p>
            <a:r>
              <a:rPr lang="en-US" dirty="0"/>
              <a:t>Students with multiple absences are automatically flagged. </a:t>
            </a:r>
          </a:p>
          <a:p>
            <a:r>
              <a:rPr lang="en-US" dirty="0"/>
              <a:t>Warning messages are stored in </a:t>
            </a:r>
            <a:r>
              <a:rPr lang="en-US" dirty="0" err="1"/>
              <a:t>Alert_Log</a:t>
            </a:r>
            <a:r>
              <a:rPr lang="en-US" dirty="0"/>
              <a:t> for further action. </a:t>
            </a:r>
          </a:p>
          <a:p>
            <a:r>
              <a:rPr lang="en-US" dirty="0"/>
              <a:t>Attendance tracking process becomes fully automated.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CC97C5-A087-1AB4-3F47-82DB795F77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502" y="1156447"/>
            <a:ext cx="4146852" cy="47781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7477B6-7995-6B9D-130E-69D57A369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1247" y="5656695"/>
            <a:ext cx="6920753" cy="8535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86C18D-F80E-5AE7-CEBF-D7E4A3D84A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3647" y="1391956"/>
            <a:ext cx="2958353" cy="1207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8587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8F7CA-319C-921F-7B59-4611AC948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                                          LOCKS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B92A4-8512-160D-9E1E-DF0430FAB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1038"/>
            <a:ext cx="6096000" cy="6158705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3400" b="1" dirty="0"/>
              <a:t>Locking Mechanism Implementation</a:t>
            </a:r>
          </a:p>
          <a:p>
            <a:endParaRPr lang="en-US" dirty="0"/>
          </a:p>
          <a:p>
            <a:r>
              <a:rPr lang="en-US" dirty="0"/>
              <a:t>Implemented </a:t>
            </a:r>
            <a:r>
              <a:rPr lang="en-US" b="1" dirty="0"/>
              <a:t>row-level locking</a:t>
            </a:r>
            <a:r>
              <a:rPr lang="en-US" dirty="0"/>
              <a:t> using MySQL transactions. </a:t>
            </a:r>
          </a:p>
          <a:p>
            <a:r>
              <a:rPr lang="en-US" dirty="0"/>
              <a:t>Used </a:t>
            </a:r>
            <a:r>
              <a:rPr lang="en-US" b="1" dirty="0"/>
              <a:t>FOR UPDATE</a:t>
            </a:r>
            <a:r>
              <a:rPr lang="en-US" dirty="0"/>
              <a:t> lock on Result and Attendance tables. </a:t>
            </a:r>
          </a:p>
          <a:p>
            <a:r>
              <a:rPr lang="en-US" dirty="0"/>
              <a:t>Prevents simultaneous modification of records during processing. </a:t>
            </a:r>
          </a:p>
          <a:p>
            <a:r>
              <a:rPr lang="en-US" dirty="0"/>
              <a:t>Ensures consistency while generating performance reports and attendance analysis. </a:t>
            </a:r>
          </a:p>
          <a:p>
            <a:r>
              <a:rPr lang="en-US" dirty="0"/>
              <a:t>Implemented </a:t>
            </a:r>
            <a:r>
              <a:rPr lang="en-US" b="1" dirty="0"/>
              <a:t>LOCK IN SHARE MODE</a:t>
            </a:r>
            <a:r>
              <a:rPr lang="en-US" dirty="0"/>
              <a:t> for safe data viewing without allowing concurrent updates. 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sz="3300" b="1" dirty="0"/>
              <a:t>Locks Implemented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b="1" dirty="0"/>
              <a:t>Exclusive Lock (FOR UPDATE)</a:t>
            </a:r>
            <a:endParaRPr lang="en-US" dirty="0"/>
          </a:p>
          <a:p>
            <a:r>
              <a:rPr lang="en-US" dirty="0"/>
              <a:t>Result table during performance analysis. </a:t>
            </a:r>
          </a:p>
          <a:p>
            <a:r>
              <a:rPr lang="en-US" dirty="0"/>
              <a:t>Attendance table during attendance processing. </a:t>
            </a:r>
          </a:p>
          <a:p>
            <a:pPr marL="0" indent="0">
              <a:buNone/>
            </a:pPr>
            <a:r>
              <a:rPr lang="en-US" b="1" dirty="0"/>
              <a:t>Shared Lock (LOCK IN SHARE MODE)</a:t>
            </a:r>
            <a:endParaRPr lang="en-US" dirty="0"/>
          </a:p>
          <a:p>
            <a:r>
              <a:rPr lang="en-US" dirty="0"/>
              <a:t>Result records during report viewing. </a:t>
            </a:r>
          </a:p>
          <a:p>
            <a:r>
              <a:rPr lang="en-US" dirty="0"/>
              <a:t>Allows multiple users to read data while preventing modifications. </a:t>
            </a:r>
          </a:p>
          <a:p>
            <a:endParaRPr lang="en-US" b="1" dirty="0"/>
          </a:p>
          <a:p>
            <a:r>
              <a:rPr lang="en-US" b="1" dirty="0"/>
              <a:t>Outcome</a:t>
            </a:r>
          </a:p>
          <a:p>
            <a:r>
              <a:rPr lang="en-US" dirty="0"/>
              <a:t>Prevents conflicting updates. </a:t>
            </a:r>
          </a:p>
          <a:p>
            <a:r>
              <a:rPr lang="en-US" dirty="0"/>
              <a:t>Maintains data integrity. </a:t>
            </a:r>
          </a:p>
          <a:p>
            <a:r>
              <a:rPr lang="en-US" dirty="0"/>
              <a:t>Supports reliable transaction processing. 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E83A9C-6788-8091-8FA5-B5D46BB46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966" y="681038"/>
            <a:ext cx="3617258" cy="29415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42E0BA-B56D-70D1-5D46-255420AB0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965" y="3858347"/>
            <a:ext cx="4509925" cy="274565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0BB80C1-47E3-2ECE-6AA6-F98C798D04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8848" y="720293"/>
            <a:ext cx="2446232" cy="179085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43A682D-E001-839D-3BD5-2F04C04A55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6003" y="2704291"/>
            <a:ext cx="2331922" cy="1836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46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0A21D-0027-1590-21D3-8B90C4C2B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JSON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5ABE8-6319-93CD-216A-6A6C02645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5157"/>
            <a:ext cx="10515600" cy="4691806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JSON was used to store additional student profile information.</a:t>
            </a:r>
            <a:endParaRPr lang="en-US" dirty="0"/>
          </a:p>
          <a:p>
            <a:pPr marL="0" indent="0">
              <a:buNone/>
            </a:pPr>
            <a:br>
              <a:rPr lang="en-US" dirty="0"/>
            </a:br>
            <a:r>
              <a:rPr 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Example: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{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 "</a:t>
            </a:r>
            <a:r>
              <a:rPr lang="en-US" dirty="0" err="1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sports":"Cricket</a:t>
            </a:r>
            <a:r>
              <a:rPr 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",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 "</a:t>
            </a:r>
            <a:r>
              <a:rPr lang="en-US" dirty="0" err="1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club":"Coding</a:t>
            </a:r>
            <a:r>
              <a:rPr 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 Club",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 "</a:t>
            </a:r>
            <a:r>
              <a:rPr lang="en-US" dirty="0" err="1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certification":"SQL</a:t>
            </a:r>
            <a:r>
              <a:rPr 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"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}</a:t>
            </a:r>
            <a:endParaRPr lang="en-US" dirty="0"/>
          </a:p>
          <a:p>
            <a:pPr marL="0" indent="0">
              <a:buNone/>
            </a:pPr>
            <a:endParaRPr lang="en-US" b="1" dirty="0">
              <a:solidFill>
                <a:srgbClr val="222222"/>
              </a:solidFill>
              <a:highlight>
                <a:srgbClr val="FFFFFF"/>
              </a:highlight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Functions Used</a:t>
            </a:r>
            <a:endParaRPr lang="en-US" b="1" dirty="0"/>
          </a:p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JSON Object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JSON_EXTRACT()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7F7800-44D7-2220-55E3-3F278CE73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442" y="2421237"/>
            <a:ext cx="5159187" cy="16308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7DA475-DB9E-4A34-7880-5E16F05CF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1442" y="4344054"/>
            <a:ext cx="4749052" cy="176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132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AFB806-786E-2709-41D1-D6F0822A3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Performance Optimizat</a:t>
            </a:r>
            <a:r>
              <a:rPr lang="en-US" sz="4000">
                <a:solidFill>
                  <a:srgbClr val="FFFFFF"/>
                </a:solidFill>
                <a:latin typeface="Aptos Display"/>
              </a:rPr>
              <a:t>ion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846B5-52B4-1A9F-AE63-79408A45C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2066" y="268115"/>
            <a:ext cx="7674781" cy="600303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highlight>
                  <a:srgbClr val="FFFFFF"/>
                </a:highlight>
                <a:latin typeface="Arial"/>
                <a:cs typeface="Arial"/>
              </a:rPr>
              <a:t>Query Optimization</a:t>
            </a:r>
            <a:endParaRPr lang="en-US" sz="2000" b="1" dirty="0"/>
          </a:p>
          <a:p>
            <a:pPr marL="0" indent="0">
              <a:buNone/>
            </a:pPr>
            <a:br>
              <a:rPr lang="en-US" sz="2000" dirty="0"/>
            </a:br>
            <a:r>
              <a:rPr lang="en-US" sz="2000" dirty="0">
                <a:highlight>
                  <a:srgbClr val="FFFFFF"/>
                </a:highlight>
                <a:latin typeface="Arial"/>
                <a:cs typeface="Arial"/>
              </a:rPr>
              <a:t>  Indexes were created to improve query performance.</a:t>
            </a:r>
            <a:endParaRPr lang="en-US" sz="2000" dirty="0"/>
          </a:p>
          <a:p>
            <a:pPr marL="0" indent="0">
              <a:buNone/>
            </a:pPr>
            <a:br>
              <a:rPr lang="en-US" sz="2000" dirty="0"/>
            </a:b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highlight>
                  <a:srgbClr val="FFFFFF"/>
                </a:highlight>
                <a:latin typeface="Arial"/>
                <a:cs typeface="Arial"/>
              </a:rPr>
              <a:t>Indexed Columns</a:t>
            </a:r>
            <a:endParaRPr lang="en-US" sz="2000" b="1" dirty="0"/>
          </a:p>
          <a:p>
            <a:r>
              <a:rPr lang="en-US" sz="2000" dirty="0" err="1">
                <a:highlight>
                  <a:srgbClr val="FFFFFF"/>
                </a:highlight>
                <a:latin typeface="Arial"/>
                <a:cs typeface="Arial"/>
              </a:rPr>
              <a:t>student_id</a:t>
            </a:r>
            <a:endParaRPr lang="en-US" sz="2000" dirty="0"/>
          </a:p>
          <a:p>
            <a:r>
              <a:rPr lang="en-US" sz="2000" dirty="0" err="1">
                <a:highlight>
                  <a:srgbClr val="FFFFFF"/>
                </a:highlight>
                <a:latin typeface="Arial"/>
                <a:cs typeface="Arial"/>
              </a:rPr>
              <a:t>course_id</a:t>
            </a:r>
            <a:endParaRPr lang="en-US" sz="2000" dirty="0"/>
          </a:p>
          <a:p>
            <a:r>
              <a:rPr lang="en-US" sz="2000" dirty="0" err="1">
                <a:highlight>
                  <a:srgbClr val="FFFFFF"/>
                </a:highlight>
                <a:latin typeface="Arial"/>
                <a:cs typeface="Arial"/>
              </a:rPr>
              <a:t>Student_name</a:t>
            </a:r>
            <a:endParaRPr lang="en-US" sz="2000" dirty="0"/>
          </a:p>
          <a:p>
            <a:pPr marL="0" indent="0">
              <a:buNone/>
            </a:pPr>
            <a:endParaRPr lang="en-US" sz="2000" b="1" dirty="0">
              <a:highlight>
                <a:srgbClr val="FFFFFF"/>
              </a:highlight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000" b="1" dirty="0">
                <a:highlight>
                  <a:srgbClr val="FFFFFF"/>
                </a:highlight>
                <a:latin typeface="Arial"/>
                <a:cs typeface="Arial"/>
              </a:rPr>
              <a:t>Benefits</a:t>
            </a:r>
            <a:endParaRPr lang="en-US" sz="2000" b="1" dirty="0"/>
          </a:p>
          <a:p>
            <a:r>
              <a:rPr lang="en-US" sz="2000" dirty="0">
                <a:highlight>
                  <a:srgbClr val="FFFFFF"/>
                </a:highlight>
                <a:latin typeface="Arial"/>
                <a:cs typeface="Arial"/>
              </a:rPr>
              <a:t>Faster searching</a:t>
            </a:r>
            <a:endParaRPr lang="en-US" sz="2000" dirty="0"/>
          </a:p>
          <a:p>
            <a:r>
              <a:rPr lang="en-US" sz="2000" dirty="0">
                <a:highlight>
                  <a:srgbClr val="FFFFFF"/>
                </a:highlight>
                <a:latin typeface="Arial"/>
                <a:cs typeface="Arial"/>
              </a:rPr>
              <a:t>Improved reporting speed</a:t>
            </a:r>
            <a:endParaRPr lang="en-US" sz="2000" dirty="0"/>
          </a:p>
          <a:p>
            <a:r>
              <a:rPr lang="en-US" sz="2000" dirty="0">
                <a:highlight>
                  <a:srgbClr val="FFFFFF"/>
                </a:highlight>
                <a:latin typeface="Arial"/>
                <a:cs typeface="Arial"/>
              </a:rPr>
              <a:t>Better database performance</a:t>
            </a:r>
            <a:endParaRPr lang="en-US" sz="2000" dirty="0"/>
          </a:p>
          <a:p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8CB18E-E1BA-AB9E-F134-DCD7CB9F6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318" y="2043331"/>
            <a:ext cx="5411634" cy="275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3915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B63890-D68A-B526-4E02-F838A25B4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Results and Outcomes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01ACC-575F-8AC3-34A4-234785668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466165"/>
            <a:ext cx="5536397" cy="566569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highlight>
                  <a:srgbClr val="FFFFFF"/>
                </a:highlight>
                <a:latin typeface="Arial"/>
                <a:cs typeface="Arial"/>
              </a:rPr>
              <a:t>The system successfully</a:t>
            </a:r>
            <a:r>
              <a:rPr lang="en-US" sz="2000" dirty="0">
                <a:highlight>
                  <a:srgbClr val="FFFFFF"/>
                </a:highlight>
                <a:latin typeface="Arial"/>
                <a:cs typeface="Arial"/>
              </a:rPr>
              <a:t>:</a:t>
            </a:r>
            <a:endParaRPr lang="en-US" sz="2000" dirty="0"/>
          </a:p>
          <a:p>
            <a:endParaRPr lang="en-US" sz="2000" dirty="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sz="2000" dirty="0">
                <a:highlight>
                  <a:srgbClr val="FFFFFF"/>
                </a:highlight>
                <a:latin typeface="Arial"/>
                <a:cs typeface="Arial"/>
              </a:rPr>
              <a:t>Tracks student attendance efficiently.</a:t>
            </a:r>
            <a:endParaRPr lang="en-US" sz="2000" dirty="0"/>
          </a:p>
          <a:p>
            <a:r>
              <a:rPr lang="en-US" sz="2000" dirty="0">
                <a:highlight>
                  <a:srgbClr val="FFFFFF"/>
                </a:highlight>
                <a:latin typeface="Arial"/>
                <a:cs typeface="Arial"/>
              </a:rPr>
              <a:t>Stores examination results securely.</a:t>
            </a:r>
            <a:endParaRPr lang="en-US" sz="2000" dirty="0"/>
          </a:p>
          <a:p>
            <a:r>
              <a:rPr lang="en-US" sz="2000" dirty="0">
                <a:highlight>
                  <a:srgbClr val="FFFFFF"/>
                </a:highlight>
                <a:latin typeface="Arial"/>
                <a:cs typeface="Arial"/>
              </a:rPr>
              <a:t>Generates analytical reports.</a:t>
            </a:r>
            <a:endParaRPr lang="en-US" sz="2000" dirty="0"/>
          </a:p>
          <a:p>
            <a:r>
              <a:rPr lang="en-US" sz="2000" dirty="0">
                <a:highlight>
                  <a:srgbClr val="FFFFFF"/>
                </a:highlight>
                <a:latin typeface="Arial"/>
                <a:cs typeface="Arial"/>
              </a:rPr>
              <a:t>Supports academic performance monitoring.</a:t>
            </a:r>
            <a:endParaRPr lang="en-US" sz="2000" dirty="0"/>
          </a:p>
          <a:p>
            <a:r>
              <a:rPr lang="en-US" sz="2000" dirty="0">
                <a:highlight>
                  <a:srgbClr val="FFFFFF"/>
                </a:highlight>
                <a:latin typeface="Arial"/>
                <a:cs typeface="Arial"/>
              </a:rPr>
              <a:t>Maintains data integrity and consistency.</a:t>
            </a:r>
            <a:endParaRPr lang="en-US" sz="2000" dirty="0"/>
          </a:p>
          <a:p>
            <a:pPr marL="0" indent="0">
              <a:buNone/>
            </a:pPr>
            <a:endParaRPr lang="en-US" sz="2000" dirty="0">
              <a:highlight>
                <a:srgbClr val="FFFFFF"/>
              </a:highlight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2000" b="1" dirty="0">
                <a:highlight>
                  <a:srgbClr val="FFFFFF"/>
                </a:highlight>
                <a:latin typeface="Arial"/>
                <a:cs typeface="Arial"/>
              </a:rPr>
              <a:t>   Business Value</a:t>
            </a:r>
            <a:endParaRPr lang="en-US" sz="2000" b="1" dirty="0"/>
          </a:p>
          <a:p>
            <a:pPr marL="0" indent="0">
              <a:buNone/>
            </a:pPr>
            <a:br>
              <a:rPr lang="en-US" sz="2000" dirty="0"/>
            </a:br>
            <a:r>
              <a:rPr lang="en-US" sz="2000" dirty="0">
                <a:highlight>
                  <a:srgbClr val="FFFFFF"/>
                </a:highlight>
                <a:latin typeface="Arial"/>
                <a:cs typeface="Arial"/>
              </a:rPr>
              <a:t>   Helps institutions make better academic decisions using accurate data.</a:t>
            </a:r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635987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Slide Background Fill">
            <a:extLst>
              <a:ext uri="{FF2B5EF4-FFF2-40B4-BE49-F238E27FC236}">
                <a16:creationId xmlns:a16="http://schemas.microsoft.com/office/drawing/2014/main" id="{44D65982-4F00-4330-8DAA-DE6A9E4D6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olor Cover">
            <a:extLst>
              <a:ext uri="{FF2B5EF4-FFF2-40B4-BE49-F238E27FC236}">
                <a16:creationId xmlns:a16="http://schemas.microsoft.com/office/drawing/2014/main" id="{56AD21CA-472C-4EA1-A897-F639017AF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29A5F49-8CEE-44D2-A717-96965326A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A4758941-095E-4760-9F3E-0E9F079AA2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Color">
              <a:extLst>
                <a:ext uri="{FF2B5EF4-FFF2-40B4-BE49-F238E27FC236}">
                  <a16:creationId xmlns:a16="http://schemas.microsoft.com/office/drawing/2014/main" id="{9BA7B350-F1EB-47CD-8531-349F4BD68B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C05FE506-AB9A-470B-89C8-008269966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5300" y="252484"/>
            <a:ext cx="6244113" cy="6244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Content Placeholder 2">
            <a:extLst>
              <a:ext uri="{FF2B5EF4-FFF2-40B4-BE49-F238E27FC236}">
                <a16:creationId xmlns:a16="http://schemas.microsoft.com/office/drawing/2014/main" id="{8B4832FE-5E56-DA30-689B-CDC00236EB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1584" y="540048"/>
            <a:ext cx="5652097" cy="564129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  <a:highlight>
                  <a:srgbClr val="FFFFFF"/>
                </a:highlight>
                <a:latin typeface="Arial"/>
                <a:cs typeface="Arial"/>
              </a:rPr>
              <a:t> </a:t>
            </a:r>
            <a:endParaRPr lang="en-US" sz="17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  <a:highlight>
                  <a:srgbClr val="FFFFFF"/>
                </a:highlight>
                <a:latin typeface="Arial"/>
                <a:cs typeface="Arial"/>
              </a:rPr>
              <a:t>The Student Attendance and Performance Tracker provides an efficient solution for managing student records,   attendance, and academic performance using SQL.</a:t>
            </a:r>
            <a:endParaRPr lang="en-US" sz="17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7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  <a:highlight>
                  <a:srgbClr val="FFFFFF"/>
                </a:highlight>
                <a:latin typeface="Arial"/>
                <a:cs typeface="Arial"/>
              </a:rPr>
              <a:t>The project demonstrates database design, query writing, automation, optimization, and reporting techniques.</a:t>
            </a:r>
            <a:endParaRPr lang="en-US" sz="17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7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  <a:highlight>
                  <a:srgbClr val="FFFFFF"/>
                </a:highlight>
                <a:latin typeface="Arial"/>
                <a:cs typeface="Arial"/>
              </a:rPr>
              <a:t>Future Scope</a:t>
            </a:r>
            <a:endParaRPr lang="en-US" sz="1700" b="1" dirty="0">
              <a:solidFill>
                <a:schemeClr val="tx2"/>
              </a:solidFill>
            </a:endParaRPr>
          </a:p>
          <a:p>
            <a:r>
              <a:rPr lang="en-US" sz="1700" dirty="0">
                <a:solidFill>
                  <a:schemeClr val="tx2"/>
                </a:solidFill>
                <a:highlight>
                  <a:srgbClr val="FFFFFF"/>
                </a:highlight>
                <a:latin typeface="Arial"/>
                <a:cs typeface="Arial"/>
              </a:rPr>
              <a:t>Web Application Integration</a:t>
            </a:r>
            <a:endParaRPr lang="en-US" sz="1700" dirty="0">
              <a:solidFill>
                <a:schemeClr val="tx2"/>
              </a:solidFill>
            </a:endParaRPr>
          </a:p>
          <a:p>
            <a:r>
              <a:rPr lang="en-US" sz="1700" dirty="0">
                <a:solidFill>
                  <a:schemeClr val="tx2"/>
                </a:solidFill>
                <a:highlight>
                  <a:srgbClr val="FFFFFF"/>
                </a:highlight>
                <a:latin typeface="Arial"/>
                <a:cs typeface="Arial"/>
              </a:rPr>
              <a:t>Real-Time Attendance System</a:t>
            </a:r>
            <a:endParaRPr lang="en-US" sz="1700" dirty="0">
              <a:solidFill>
                <a:schemeClr val="tx2"/>
              </a:solidFill>
            </a:endParaRPr>
          </a:p>
          <a:p>
            <a:r>
              <a:rPr lang="en-US" sz="1700" dirty="0">
                <a:solidFill>
                  <a:schemeClr val="tx2"/>
                </a:solidFill>
                <a:highlight>
                  <a:srgbClr val="FFFFFF"/>
                </a:highlight>
                <a:latin typeface="Arial"/>
                <a:cs typeface="Arial"/>
              </a:rPr>
              <a:t>Dashboard and Data Visualization</a:t>
            </a:r>
            <a:endParaRPr lang="en-US" sz="1700" dirty="0">
              <a:solidFill>
                <a:schemeClr val="tx2"/>
              </a:solidFill>
            </a:endParaRPr>
          </a:p>
          <a:p>
            <a:r>
              <a:rPr lang="en-US" sz="1700" dirty="0">
                <a:solidFill>
                  <a:schemeClr val="tx2"/>
                </a:solidFill>
                <a:highlight>
                  <a:srgbClr val="FFFFFF"/>
                </a:highlight>
                <a:latin typeface="Arial"/>
                <a:cs typeface="Arial"/>
              </a:rPr>
              <a:t>Student Performance Prediction</a:t>
            </a:r>
            <a:endParaRPr lang="en-US" sz="17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1700" dirty="0">
                <a:solidFill>
                  <a:schemeClr val="tx2"/>
                </a:solidFill>
                <a:highlight>
                  <a:srgbClr val="FFFFFF"/>
                </a:highlight>
                <a:latin typeface="Arial"/>
                <a:cs typeface="Arial"/>
              </a:rPr>
              <a:t>                                                                </a:t>
            </a:r>
          </a:p>
          <a:p>
            <a:pPr marL="0" indent="0">
              <a:buNone/>
            </a:pPr>
            <a:endParaRPr lang="en-US" sz="1700" dirty="0">
              <a:solidFill>
                <a:schemeClr val="tx2"/>
              </a:solidFill>
            </a:endParaRPr>
          </a:p>
        </p:txBody>
      </p:sp>
      <p:sp>
        <p:nvSpPr>
          <p:cNvPr id="45" name="Title 44">
            <a:extLst>
              <a:ext uri="{FF2B5EF4-FFF2-40B4-BE49-F238E27FC236}">
                <a16:creationId xmlns:a16="http://schemas.microsoft.com/office/drawing/2014/main" id="{EEC6D420-1361-2360-5C43-86B6C4E17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5410162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22E7A9-66F5-8C5B-60BB-C38AFF6B2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highlight>
                  <a:srgbClr val="FFFFFF"/>
                </a:highlight>
                <a:latin typeface="Arial"/>
                <a:cs typeface="Arial"/>
              </a:rPr>
              <a:t>   </a:t>
            </a:r>
            <a:endParaRPr lang="en-US" dirty="0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B1EAB-54D6-4F4C-3353-4B050D494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9247"/>
            <a:ext cx="10515600" cy="547771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highlight>
                  <a:srgbClr val="FFFFFF"/>
                </a:highlight>
                <a:latin typeface="Arial"/>
                <a:cs typeface="Arial"/>
              </a:rPr>
              <a:t>                                       </a:t>
            </a:r>
            <a:r>
              <a:rPr lang="en-US" sz="3200" b="1" dirty="0" err="1">
                <a:highlight>
                  <a:srgbClr val="FFFFFF"/>
                </a:highlight>
                <a:latin typeface="Arial"/>
                <a:cs typeface="Arial"/>
              </a:rPr>
              <a:t>Questionare</a:t>
            </a:r>
            <a:endParaRPr lang="en-US" sz="3200" b="1" dirty="0"/>
          </a:p>
          <a:p>
            <a:endParaRPr lang="en-US" dirty="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en-US" dirty="0">
                <a:highlight>
                  <a:srgbClr val="FFFFFF"/>
                </a:highlight>
                <a:latin typeface="Arial"/>
                <a:cs typeface="Arial"/>
              </a:rPr>
              <a:t>Q1. What problem does your project solve?</a:t>
            </a:r>
            <a:endParaRPr lang="en-US" dirty="0"/>
          </a:p>
          <a:p>
            <a:r>
              <a:rPr lang="en-US" dirty="0">
                <a:highlight>
                  <a:srgbClr val="FFFFFF"/>
                </a:highlight>
                <a:latin typeface="Arial"/>
                <a:cs typeface="Arial"/>
              </a:rPr>
              <a:t>Q2. Explain your ER Diagram.</a:t>
            </a:r>
            <a:endParaRPr lang="en-US" dirty="0"/>
          </a:p>
          <a:p>
            <a:r>
              <a:rPr lang="en-US" dirty="0">
                <a:highlight>
                  <a:srgbClr val="FFFFFF"/>
                </a:highlight>
                <a:latin typeface="Arial"/>
                <a:cs typeface="Arial"/>
              </a:rPr>
              <a:t>Q3. Why did you normalize the database?</a:t>
            </a:r>
            <a:endParaRPr lang="en-US" dirty="0"/>
          </a:p>
          <a:p>
            <a:r>
              <a:rPr lang="en-US" dirty="0">
                <a:highlight>
                  <a:srgbClr val="FFFFFF"/>
                </a:highlight>
                <a:latin typeface="Arial"/>
                <a:cs typeface="Arial"/>
              </a:rPr>
              <a:t>Q4. Which SQL concepts did you use in this project?</a:t>
            </a:r>
            <a:endParaRPr lang="en-US" dirty="0"/>
          </a:p>
          <a:p>
            <a:r>
              <a:rPr lang="en-US" dirty="0">
                <a:highlight>
                  <a:srgbClr val="FFFFFF"/>
                </a:highlight>
                <a:latin typeface="Arial"/>
                <a:cs typeface="Arial"/>
              </a:rPr>
              <a:t>Q5. Why did you use JOINs and Subqueries?</a:t>
            </a:r>
            <a:endParaRPr lang="en-US" dirty="0"/>
          </a:p>
          <a:p>
            <a:r>
              <a:rPr lang="en-US" dirty="0">
                <a:highlight>
                  <a:srgbClr val="FFFFFF"/>
                </a:highlight>
                <a:latin typeface="Arial"/>
                <a:cs typeface="Arial"/>
              </a:rPr>
              <a:t>Q6. Why did you use Stored Procedures and Triggers?</a:t>
            </a:r>
            <a:endParaRPr lang="en-US" dirty="0"/>
          </a:p>
          <a:p>
            <a:r>
              <a:rPr lang="en-US" dirty="0">
                <a:highlight>
                  <a:srgbClr val="FFFFFF"/>
                </a:highlight>
                <a:latin typeface="Arial"/>
                <a:cs typeface="Arial"/>
              </a:rPr>
              <a:t>Q7. What did you learn from this project?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6358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ank You Images for Ppt">
            <a:extLst>
              <a:ext uri="{FF2B5EF4-FFF2-40B4-BE49-F238E27FC236}">
                <a16:creationId xmlns:a16="http://schemas.microsoft.com/office/drawing/2014/main" id="{DD3287CE-E9A5-53DD-543A-4993B018FF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8022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266</TotalTime>
  <Words>1027</Words>
  <Application>Microsoft Office PowerPoint</Application>
  <PresentationFormat>Widescreen</PresentationFormat>
  <Paragraphs>225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office theme</vt:lpstr>
      <vt:lpstr>      STUDENT ATTENDANCE AND PERFORMANCE TRACKER                  Prepared By: Harshit Pandey and Geetha                                                                               Enrollment No:EN12026096961                                                                            Enrollment No:EN12027097079                                                           Batch code:DA804S80       </vt:lpstr>
      <vt:lpstr>Introduction</vt:lpstr>
      <vt:lpstr>   Problem Statement</vt:lpstr>
      <vt:lpstr>Objectives</vt:lpstr>
      <vt:lpstr>Database Design</vt:lpstr>
      <vt:lpstr>PowerPoint Presentation</vt:lpstr>
      <vt:lpstr>Database Constraints</vt:lpstr>
      <vt:lpstr>SQL Operations Performed</vt:lpstr>
      <vt:lpstr>                                                                                       Important queries</vt:lpstr>
      <vt:lpstr>Joins and Subqueries Joins</vt:lpstr>
      <vt:lpstr>                        Stored Procedures</vt:lpstr>
      <vt:lpstr> Triggers</vt:lpstr>
      <vt:lpstr>                                     EVENTS</vt:lpstr>
      <vt:lpstr>                                          LOCKS</vt:lpstr>
      <vt:lpstr>JSON Implementation</vt:lpstr>
      <vt:lpstr>Performance Optimization</vt:lpstr>
      <vt:lpstr>Results and Outcomes</vt:lpstr>
      <vt:lpstr>Conclusion</vt:lpstr>
      <vt:lpstr>   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Harshit Pandey</dc:creator>
  <cp:lastModifiedBy>Harshit Pandey</cp:lastModifiedBy>
  <cp:revision>531</cp:revision>
  <dcterms:created xsi:type="dcterms:W3CDTF">2026-06-13T18:01:16Z</dcterms:created>
  <dcterms:modified xsi:type="dcterms:W3CDTF">2026-06-18T03:21:10Z</dcterms:modified>
</cp:coreProperties>
</file>